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cd1eda3ca74b6d" /><Relationship Type="http://schemas.openxmlformats.org/officeDocument/2006/relationships/extended-properties" Target="/docProps/app.xml" Id="R2a30e1adbf334095" /><Relationship Type="http://schemas.openxmlformats.org/officeDocument/2006/relationships/officeDocument" Target="/ppt/presentation.xml" Id="R5d42b9832ff2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ad0d94ffb4eb4"/>
  </p:sldMasterIdLst>
  <p:notesMasterIdLst>
    <p:notesMasterId xmlns:r="http://schemas.openxmlformats.org/officeDocument/2006/relationships" r:id="R8cdfcc8686af4099"/>
  </p:notesMasterIdLst>
  <p:sldIdLst>
    <p:sldId xmlns:r="http://schemas.openxmlformats.org/officeDocument/2006/relationships" id="256" r:id="R4542278cc08f41db"/>
    <p:sldId xmlns:r="http://schemas.openxmlformats.org/officeDocument/2006/relationships" id="257" r:id="R41d9b6cbc71b4ccf"/>
    <p:sldId xmlns:r="http://schemas.openxmlformats.org/officeDocument/2006/relationships" id="258" r:id="R06b63de7eea740d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9688ff419f4193" /><Relationship Type="http://schemas.openxmlformats.org/officeDocument/2006/relationships/slideMaster" Target="/ppt/slideMasters/slideMaster1.xml" Id="R0d6ad0d94ffb4eb4" /><Relationship Type="http://schemas.openxmlformats.org/officeDocument/2006/relationships/notesMaster" Target="/ppt/notesMasters/notesMaster1.xml" Id="R8cdfcc8686af4099" /><Relationship Type="http://schemas.openxmlformats.org/officeDocument/2006/relationships/presProps" Target="/ppt/presProps.xml" Id="Rf17129ab668d4a69" /><Relationship Type="http://schemas.openxmlformats.org/officeDocument/2006/relationships/tableStyles" Target="/ppt/tableStyles.xml" Id="Rbe9732621d6d4b03" /><Relationship Type="http://schemas.openxmlformats.org/officeDocument/2006/relationships/slide" Target="/ppt/slides/slide1.xml" Id="R4542278cc08f41db" /><Relationship Type="http://schemas.openxmlformats.org/officeDocument/2006/relationships/slide" Target="/ppt/slides/slide2.xml" Id="R41d9b6cbc71b4ccf" /><Relationship Type="http://schemas.openxmlformats.org/officeDocument/2006/relationships/slide" Target="/ppt/slides/slide3.xml" Id="R06b63de7eea740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e79c611bf3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8fc2e8e1a54505" /><Relationship Type="http://schemas.openxmlformats.org/officeDocument/2006/relationships/notesMaster" Target="/ppt/notesMasters/notesMaster1.xml" Id="Rc91c5ed0b39742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e31df2fa6a425b" /><Relationship Type="http://schemas.openxmlformats.org/officeDocument/2006/relationships/notesMaster" Target="/ppt/notesMasters/notesMaster1.xml" Id="Raace78e6b45f4d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51484d161d4627" /><Relationship Type="http://schemas.openxmlformats.org/officeDocument/2006/relationships/notesMaster" Target="/ppt/notesMasters/notesMaster1.xml" Id="Re9dfd02e62e14f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https://www.waveshare.com/wiki/ESP32-S3-ETH</a:t>
            </a:r>
          </a:p>
          <a:p xmlns:a="http://schemas.openxmlformats.org/drawingml/2006/main">
            <a:r>
              <a:t>- https://files.waveshare.com/wiki/ESP32-S3-ETH/ESP32-S3-ETH-Schematic.pdf</a:t>
            </a:r>
          </a:p>
          <a:p xmlns:a="http://schemas.openxmlformats.org/drawingml/2006/main">
            <a:r>
              <a:t>- Local project source: docs/HARDWARE.md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https://documentation.espressif.com/projects/esp-hardware-design-guidelines/en/latest/esp32s3/schematic-checklist.html</a:t>
            </a:r>
          </a:p>
          <a:p xmlns:a="http://schemas.openxmlformats.org/drawingml/2006/main">
            <a:r>
              <a:t>- https://www.waveshare.com/wiki/ESP32-S3-ETH</a:t>
            </a:r>
          </a:p>
          <a:p xmlns:a="http://schemas.openxmlformats.org/drawingml/2006/main">
            <a:r>
              <a:t>- Local project source: docs/PROTECTED-CONTACT-INPUTS.md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https://www.mornsun-power.com/html/pdf/B0505S-1WR3.html</a:t>
            </a:r>
          </a:p>
          <a:p xmlns:a="http://schemas.openxmlformats.org/drawingml/2006/main">
            <a:r>
              <a:t>- https://www.waveshare.com/wiki/ESP32-S3-ETH</a:t>
            </a:r>
          </a:p>
          <a:p xmlns:a="http://schemas.openxmlformats.org/drawingml/2006/main">
            <a:r>
              <a:t>- Local project source: docs/PROTECTED-CONTACT-INPUTS.md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69985ec2b48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cc4f453c484c8f" /><Relationship Type="http://schemas.openxmlformats.org/officeDocument/2006/relationships/slideLayout" Target="/ppt/slideLayouts/slideLayout1.xml" Id="R170b6be262654f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0b6be262654f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4aaaba8a44594" /><Relationship Type="http://schemas.openxmlformats.org/officeDocument/2006/relationships/notesSlide" Target="/ppt/notesSlides/notesSlide1.xml" Id="R8d8604c21d9346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97327376649ba" /><Relationship Type="http://schemas.openxmlformats.org/officeDocument/2006/relationships/notesSlide" Target="/ppt/notesSlides/notesSlide2.xml" Id="R462d0e486cbe4b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9476d66244880" /><Relationship Type="http://schemas.openxmlformats.org/officeDocument/2006/relationships/notesSlide" Target="/ppt/notesSlides/notesSlide3.xml" Id="R989b900ee53548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header-1">
            <a:extLst xmlns:a="http://schemas.openxmlformats.org/drawingml/2006/main">
              <a:ext uri="{FF2B5EF4-FFF2-40B4-BE49-F238E27FC236}">
                <a16:creationId xmlns:a16="http://schemas.microsoft.com/office/drawing/2014/main" id="{5132F714-F539-4518-BA28-69BEA5E6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1">
            <a:extLst xmlns:a="http://schemas.openxmlformats.org/drawingml/2006/main">
              <a:ext uri="{FF2B5EF4-FFF2-40B4-BE49-F238E27FC236}">
                <a16:creationId xmlns:a16="http://schemas.microsoft.com/office/drawing/2014/main" id="{22A97114-4016-41FF-A148-F9C4CF1E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1">
            <a:extLst xmlns:a="http://schemas.openxmlformats.org/drawingml/2006/main">
              <a:ext uri="{FF2B5EF4-FFF2-40B4-BE49-F238E27FC236}">
                <a16:creationId xmlns:a16="http://schemas.microsoft.com/office/drawing/2014/main" id="{B922FDE6-CD17-4010-85A7-2468D131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15A2C"/>
                </a:solidFill>
              </a:defRPr>
            </a:pPr>
            <a:r>
              <a:rPr sz="1275" b="1">
                <a:solidFill>
                  <a:srgbClr val="F15A2C"/>
                </a:solidFill>
              </a:rPr>
              <a:t>ADVATEK LABS</a:t>
            </a:r>
          </a:p>
        </p:txBody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6371867C-05D3-4C03-80B9-C323528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Up to eight dry-contact buttons for bench testing</a:t>
            </a:r>
          </a:p>
        </p:txBody>
      </p:sp>
      <p:sp>
        <p:nvSpPr>
          <p:cNvPr id="5" name="subtitle-1">
            <a:extLst xmlns:a="http://schemas.openxmlformats.org/drawingml/2006/main">
              <a:ext uri="{FF2B5EF4-FFF2-40B4-BE49-F238E27FC236}">
                <a16:creationId xmlns:a16="http://schemas.microsoft.com/office/drawing/2014/main" id="{77C82E67-F362-4392-AD1D-A09C395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CBC8C5"/>
                </a:solidFill>
              </a:defRPr>
            </a:pPr>
            <a:r>
              <a:rPr sz="1275" b="0">
                <a:solidFill>
                  <a:srgbClr val="CBC8C5"/>
                </a:solidFill>
              </a:rPr>
              <a:t>DIRECT CONTACT · EDITABLE DIAGRAM</a:t>
            </a:r>
          </a:p>
        </p:txBody>
      </p:sp>
      <p:sp>
        <p:nvSpPr>
          <p:cNvPr id="50" name="footer-callout">
            <a:extLst xmlns:a="http://schemas.openxmlformats.org/drawingml/2006/main">
              <a:ext uri="{FF2B5EF4-FFF2-40B4-BE49-F238E27FC236}">
                <a16:creationId xmlns:a16="http://schemas.microsoft.com/office/drawing/2014/main" id="{9DFEE351-F01A-45EC-810E-E05E5A43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91450"/>
            <a:ext cx="14135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1F20"/>
                </a:solidFill>
              </a:defRPr>
            </a:pPr>
            <a:r>
              <a:rPr sz="1350" b="1">
                <a:solidFill>
                  <a:srgbClr val="1F1F20"/>
                </a:solidFill>
              </a:rPr>
              <a:t>Bench or same-enclosure wiring only · Never apply 5 V, 12 V, 24 V or PoE to a GPIO</a:t>
            </a:r>
          </a:p>
        </p:txBody>
      </p:sp>
      <p:sp>
        <p:nvSpPr>
          <p:cNvPr id="52" name="signal-1">
            <a:extLst xmlns:a="http://schemas.openxmlformats.org/drawingml/2006/main">
              <a:ext uri="{FF2B5EF4-FFF2-40B4-BE49-F238E27FC236}">
                <a16:creationId xmlns:a16="http://schemas.microsoft.com/office/drawing/2014/main" id="{5226CA13-517D-4A55-B990-21AD168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53" name="return-1">
            <a:extLst xmlns:a="http://schemas.openxmlformats.org/drawingml/2006/main">
              <a:ext uri="{FF2B5EF4-FFF2-40B4-BE49-F238E27FC236}">
                <a16:creationId xmlns:a16="http://schemas.microsoft.com/office/drawing/2014/main" id="{E585F8E5-D90A-4C59-85E1-8D1AEF67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54" name="button-1-blade">
            <a:extLst xmlns:a="http://schemas.openxmlformats.org/drawingml/2006/main">
              <a:ext uri="{FF2B5EF4-FFF2-40B4-BE49-F238E27FC236}">
                <a16:creationId xmlns:a16="http://schemas.microsoft.com/office/drawing/2014/main" id="{BE545D98-6D4D-49FC-804C-3CCC748E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240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55" name="signal-2">
            <a:extLst xmlns:a="http://schemas.openxmlformats.org/drawingml/2006/main">
              <a:ext uri="{FF2B5EF4-FFF2-40B4-BE49-F238E27FC236}">
                <a16:creationId xmlns:a16="http://schemas.microsoft.com/office/drawing/2014/main" id="{51BF1C79-0429-4DC5-8EC8-FC8D1C7B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56" name="return-2">
            <a:extLst xmlns:a="http://schemas.openxmlformats.org/drawingml/2006/main">
              <a:ext uri="{FF2B5EF4-FFF2-40B4-BE49-F238E27FC236}">
                <a16:creationId xmlns:a16="http://schemas.microsoft.com/office/drawing/2014/main" id="{51682273-69BD-43E2-ABBB-C59B066A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05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57" name="button-2-blade">
            <a:extLst xmlns:a="http://schemas.openxmlformats.org/drawingml/2006/main">
              <a:ext uri="{FF2B5EF4-FFF2-40B4-BE49-F238E27FC236}">
                <a16:creationId xmlns:a16="http://schemas.microsoft.com/office/drawing/2014/main" id="{85494AD5-5E08-4121-8D20-F19E727C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336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58" name="signal-3">
            <a:extLst xmlns:a="http://schemas.openxmlformats.org/drawingml/2006/main">
              <a:ext uri="{FF2B5EF4-FFF2-40B4-BE49-F238E27FC236}">
                <a16:creationId xmlns:a16="http://schemas.microsoft.com/office/drawing/2014/main" id="{17C8898C-61F8-48B5-8154-0E80606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14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59" name="return-3">
            <a:extLst xmlns:a="http://schemas.openxmlformats.org/drawingml/2006/main">
              <a:ext uri="{FF2B5EF4-FFF2-40B4-BE49-F238E27FC236}">
                <a16:creationId xmlns:a16="http://schemas.microsoft.com/office/drawing/2014/main" id="{D4ECBC08-1020-4F1F-B148-FC973B7A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147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60" name="button-3-blade">
            <a:extLst xmlns:a="http://schemas.openxmlformats.org/drawingml/2006/main">
              <a:ext uri="{FF2B5EF4-FFF2-40B4-BE49-F238E27FC236}">
                <a16:creationId xmlns:a16="http://schemas.microsoft.com/office/drawing/2014/main" id="{EE93604A-8BDB-4566-B638-BE8E21AC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432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61" name="signal-4">
            <a:extLst xmlns:a="http://schemas.openxmlformats.org/drawingml/2006/main">
              <a:ext uri="{FF2B5EF4-FFF2-40B4-BE49-F238E27FC236}">
                <a16:creationId xmlns:a16="http://schemas.microsoft.com/office/drawing/2014/main" id="{47D4DBD0-C186-46D5-8B26-E4787A8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62" name="return-4">
            <a:extLst xmlns:a="http://schemas.openxmlformats.org/drawingml/2006/main">
              <a:ext uri="{FF2B5EF4-FFF2-40B4-BE49-F238E27FC236}">
                <a16:creationId xmlns:a16="http://schemas.microsoft.com/office/drawing/2014/main" id="{3432FD55-1BAD-41A9-A5BA-2074071A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63" name="button-4-blade">
            <a:extLst xmlns:a="http://schemas.openxmlformats.org/drawingml/2006/main">
              <a:ext uri="{FF2B5EF4-FFF2-40B4-BE49-F238E27FC236}">
                <a16:creationId xmlns:a16="http://schemas.microsoft.com/office/drawing/2014/main" id="{86CA0E37-290D-4E89-9C26-18ED9B69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528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64" name="signal-5">
            <a:extLst xmlns:a="http://schemas.openxmlformats.org/drawingml/2006/main">
              <a:ext uri="{FF2B5EF4-FFF2-40B4-BE49-F238E27FC236}">
                <a16:creationId xmlns:a16="http://schemas.microsoft.com/office/drawing/2014/main" id="{28AFD478-A397-4BA5-B5BD-881AAE78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339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65" name="return-5">
            <a:extLst xmlns:a="http://schemas.openxmlformats.org/drawingml/2006/main">
              <a:ext uri="{FF2B5EF4-FFF2-40B4-BE49-F238E27FC236}">
                <a16:creationId xmlns:a16="http://schemas.microsoft.com/office/drawing/2014/main" id="{A94EEF7C-C943-480C-B97B-94A2463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339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66" name="button-5-blade">
            <a:extLst xmlns:a="http://schemas.openxmlformats.org/drawingml/2006/main">
              <a:ext uri="{FF2B5EF4-FFF2-40B4-BE49-F238E27FC236}">
                <a16:creationId xmlns:a16="http://schemas.microsoft.com/office/drawing/2014/main" id="{B3EF029F-21B9-4BE0-852A-70EED1E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624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67" name="signal-6">
            <a:extLst xmlns:a="http://schemas.openxmlformats.org/drawingml/2006/main">
              <a:ext uri="{FF2B5EF4-FFF2-40B4-BE49-F238E27FC236}">
                <a16:creationId xmlns:a16="http://schemas.microsoft.com/office/drawing/2014/main" id="{D54D04D9-5069-46DD-A560-44E13D79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68" name="return-6">
            <a:extLst xmlns:a="http://schemas.openxmlformats.org/drawingml/2006/main">
              <a:ext uri="{FF2B5EF4-FFF2-40B4-BE49-F238E27FC236}">
                <a16:creationId xmlns:a16="http://schemas.microsoft.com/office/drawing/2014/main" id="{83EF2CA4-7D85-4A9B-8649-751A377E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435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69" name="button-6-blade">
            <a:extLst xmlns:a="http://schemas.openxmlformats.org/drawingml/2006/main">
              <a:ext uri="{FF2B5EF4-FFF2-40B4-BE49-F238E27FC236}">
                <a16:creationId xmlns:a16="http://schemas.microsoft.com/office/drawing/2014/main" id="{5710E96F-B1FB-4797-A5D2-6DB170C4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720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70" name="signal-7">
            <a:extLst xmlns:a="http://schemas.openxmlformats.org/drawingml/2006/main">
              <a:ext uri="{FF2B5EF4-FFF2-40B4-BE49-F238E27FC236}">
                <a16:creationId xmlns:a16="http://schemas.microsoft.com/office/drawing/2014/main" id="{DB1F0447-4F59-467E-842A-958BBB6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71" name="return-7">
            <a:extLst xmlns:a="http://schemas.openxmlformats.org/drawingml/2006/main">
              <a:ext uri="{FF2B5EF4-FFF2-40B4-BE49-F238E27FC236}">
                <a16:creationId xmlns:a16="http://schemas.microsoft.com/office/drawing/2014/main" id="{FC236CA2-BA60-483E-B08D-EA36F361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53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72" name="button-7-blade">
            <a:extLst xmlns:a="http://schemas.openxmlformats.org/drawingml/2006/main">
              <a:ext uri="{FF2B5EF4-FFF2-40B4-BE49-F238E27FC236}">
                <a16:creationId xmlns:a16="http://schemas.microsoft.com/office/drawing/2014/main" id="{C4C75A5F-5810-4576-85E2-1587FC22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816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73" name="signal-8">
            <a:extLst xmlns:a="http://schemas.openxmlformats.org/drawingml/2006/main">
              <a:ext uri="{FF2B5EF4-FFF2-40B4-BE49-F238E27FC236}">
                <a16:creationId xmlns:a16="http://schemas.microsoft.com/office/drawing/2014/main" id="{CA5E033D-B475-49A6-AB35-8C969AD3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362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15A2C"/>
            </a:solidFill>
            <a:prstDash val="solid"/>
          </a:ln>
        </p:spPr>
      </p:sp>
      <p:sp>
        <p:nvSpPr>
          <p:cNvPr id="74" name="return-8">
            <a:extLst xmlns:a="http://schemas.openxmlformats.org/drawingml/2006/main">
              <a:ext uri="{FF2B5EF4-FFF2-40B4-BE49-F238E27FC236}">
                <a16:creationId xmlns:a16="http://schemas.microsoft.com/office/drawing/2014/main" id="{C8362066-C8F7-4AE4-A2A1-3DEA9BDB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627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75" name="button-8-blade">
            <a:extLst xmlns:a="http://schemas.openxmlformats.org/drawingml/2006/main">
              <a:ext uri="{FF2B5EF4-FFF2-40B4-BE49-F238E27FC236}">
                <a16:creationId xmlns:a16="http://schemas.microsoft.com/office/drawing/2014/main" id="{5C715EDA-E1C3-4BB3-9788-F57B5A38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191250"/>
            <a:ext cx="55245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15A2C"/>
            </a:solidFill>
            <a:prstDash val="solid"/>
          </a:ln>
        </p:spPr>
      </p:sp>
      <p:sp>
        <p:nvSpPr>
          <p:cNvPr id="76" name="ground-bus">
            <a:extLst xmlns:a="http://schemas.openxmlformats.org/drawingml/2006/main">
              <a:ext uri="{FF2B5EF4-FFF2-40B4-BE49-F238E27FC236}">
                <a16:creationId xmlns:a16="http://schemas.microsoft.com/office/drawing/2014/main" id="{7807082F-4397-4FF7-82BD-E637C313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095500"/>
            <a:ext cx="0" cy="485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77" name="ground-return-across">
            <a:extLst xmlns:a="http://schemas.openxmlformats.org/drawingml/2006/main">
              <a:ext uri="{FF2B5EF4-FFF2-40B4-BE49-F238E27FC236}">
                <a16:creationId xmlns:a16="http://schemas.microsoft.com/office/drawing/2014/main" id="{5ED2F54E-7812-4E5D-AC57-72B703EC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9532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78" name="ground-return-up">
            <a:extLst xmlns:a="http://schemas.openxmlformats.org/drawingml/2006/main">
              <a:ext uri="{FF2B5EF4-FFF2-40B4-BE49-F238E27FC236}">
                <a16:creationId xmlns:a16="http://schemas.microsoft.com/office/drawing/2014/main" id="{4A3DA7EE-4086-49EC-B6D4-3557C043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7056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79" name="ground-stem">
            <a:extLst xmlns:a="http://schemas.openxmlformats.org/drawingml/2006/main">
              <a:ext uri="{FF2B5EF4-FFF2-40B4-BE49-F238E27FC236}">
                <a16:creationId xmlns:a16="http://schemas.microsoft.com/office/drawing/2014/main" id="{E30ECBFC-F2E8-45BC-8AD0-AF2A52A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532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80" name="ground-wide">
            <a:extLst xmlns:a="http://schemas.openxmlformats.org/drawingml/2006/main">
              <a:ext uri="{FF2B5EF4-FFF2-40B4-BE49-F238E27FC236}">
                <a16:creationId xmlns:a16="http://schemas.microsoft.com/office/drawing/2014/main" id="{05FF8471-F1DD-4ACD-84A2-69251179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1247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81" name="ground-mid">
            <a:extLst xmlns:a="http://schemas.openxmlformats.org/drawingml/2006/main">
              <a:ext uri="{FF2B5EF4-FFF2-40B4-BE49-F238E27FC236}">
                <a16:creationId xmlns:a16="http://schemas.microsoft.com/office/drawing/2014/main" id="{95D7EA35-0BAA-4484-9B0E-7BD808E1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72009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82" name="ground-small">
            <a:extLst xmlns:a="http://schemas.openxmlformats.org/drawingml/2006/main">
              <a:ext uri="{FF2B5EF4-FFF2-40B4-BE49-F238E27FC236}">
                <a16:creationId xmlns:a16="http://schemas.microsoft.com/office/drawing/2014/main" id="{09270A18-5997-4085-A677-9E00FBA2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727710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83" name="waveshare-board">
            <a:extLst xmlns:a="http://schemas.openxmlformats.org/drawingml/2006/main">
              <a:ext uri="{FF2B5EF4-FFF2-40B4-BE49-F238E27FC236}">
                <a16:creationId xmlns:a16="http://schemas.microsoft.com/office/drawing/2014/main" id="{ABB25C45-855F-4EDC-817E-6F39B07D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191000" cy="55245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28575">
            <a:solidFill>
              <a:srgbClr val="78736F"/>
            </a:solidFill>
            <a:prstDash val="solid"/>
          </a:ln>
        </p:spPr>
      </p:sp>
      <p:sp>
        <p:nvSpPr>
          <p:cNvPr id="84" name="board-orange-edge">
            <a:extLst xmlns:a="http://schemas.openxmlformats.org/drawingml/2006/main">
              <a:ext uri="{FF2B5EF4-FFF2-40B4-BE49-F238E27FC236}">
                <a16:creationId xmlns:a16="http://schemas.microsoft.com/office/drawing/2014/main" id="{58FF4EF4-ED67-450B-A209-BCC4F0B9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525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oe-module">
            <a:extLst xmlns:a="http://schemas.openxmlformats.org/drawingml/2006/main">
              <a:ext uri="{FF2B5EF4-FFF2-40B4-BE49-F238E27FC236}">
                <a16:creationId xmlns:a16="http://schemas.microsoft.com/office/drawing/2014/main" id="{9503DB92-3EB4-466A-B87A-6768E5F8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266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7873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PoE module</a:t>
            </a:r>
          </a:p>
        </p:txBody>
      </p:sp>
      <p:sp>
        <p:nvSpPr>
          <p:cNvPr id="86" name="board-name">
            <a:extLst xmlns:a="http://schemas.openxmlformats.org/drawingml/2006/main">
              <a:ext uri="{FF2B5EF4-FFF2-40B4-BE49-F238E27FC236}">
                <a16:creationId xmlns:a16="http://schemas.microsoft.com/office/drawing/2014/main" id="{5940C1A0-5144-4E28-A770-2754A8E7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Waveshare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ESP32-S3-ETH</a:t>
            </a:r>
          </a:p>
        </p:txBody>
      </p:sp>
      <p:sp>
        <p:nvSpPr>
          <p:cNvPr id="87" name="board-detail">
            <a:extLst xmlns:a="http://schemas.openxmlformats.org/drawingml/2006/main">
              <a:ext uri="{FF2B5EF4-FFF2-40B4-BE49-F238E27FC236}">
                <a16:creationId xmlns:a16="http://schemas.microsoft.com/office/drawing/2014/main" id="{9887BA99-3020-4968-B505-52FD258A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CBC8C5"/>
                </a:solidFill>
              </a:defRPr>
            </a:pPr>
            <a:r>
              <a:rPr sz="1350">
                <a:solidFill>
                  <a:srgbClr val="CBC8C5"/>
                </a:solidFill>
              </a:rPr>
              <a:t>W5500 Ethernet</a:t>
            </a:r>
          </a:p>
          <a:p xmlns:a="http://schemas.openxmlformats.org/drawingml/2006/main">
            <a:pPr algn="ctr">
              <a:defRPr sz="1350">
                <a:solidFill>
                  <a:srgbClr val="CBC8C5"/>
                </a:solidFill>
              </a:defRPr>
            </a:pPr>
            <a:r>
              <a:rPr sz="1350">
                <a:solidFill>
                  <a:srgbClr val="CBC8C5"/>
                </a:solidFill>
              </a:rPr>
              <a:t>16 MB flash · 8 MB PSRAM</a:t>
            </a:r>
          </a:p>
        </p:txBody>
      </p:sp>
      <p:sp>
        <p:nvSpPr>
          <p:cNvPr id="88" name="usb-port">
            <a:extLst xmlns:a="http://schemas.openxmlformats.org/drawingml/2006/main">
              <a:ext uri="{FF2B5EF4-FFF2-40B4-BE49-F238E27FC236}">
                <a16:creationId xmlns:a16="http://schemas.microsoft.com/office/drawing/2014/main" id="{500E8B3E-60DE-444A-B8CD-77905D67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1912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9A9A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9" name="pin-GPIO1">
            <a:extLst xmlns:a="http://schemas.openxmlformats.org/drawingml/2006/main">
              <a:ext uri="{FF2B5EF4-FFF2-40B4-BE49-F238E27FC236}">
                <a16:creationId xmlns:a16="http://schemas.microsoft.com/office/drawing/2014/main" id="{EC993A4F-4A09-453D-97A3-E496A0C7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621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GPIO1</a:t>
            </a:r>
          </a:p>
        </p:txBody>
      </p:sp>
      <p:sp>
        <p:nvSpPr>
          <p:cNvPr id="90" name="button-1-left-terminal">
            <a:extLst xmlns:a="http://schemas.openxmlformats.org/drawingml/2006/main">
              <a:ext uri="{FF2B5EF4-FFF2-40B4-BE49-F238E27FC236}">
                <a16:creationId xmlns:a16="http://schemas.microsoft.com/office/drawing/2014/main" id="{C5C91DF5-6186-49E2-995D-9AE0FDD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9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1" name="button-1-right-terminal">
            <a:extLst xmlns:a="http://schemas.openxmlformats.org/drawingml/2006/main">
              <a:ext uri="{FF2B5EF4-FFF2-40B4-BE49-F238E27FC236}">
                <a16:creationId xmlns:a16="http://schemas.microsoft.com/office/drawing/2014/main" id="{16384E63-43DE-4101-8E2B-E5E33B05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09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2" name="button-1-label">
            <a:extLst xmlns:a="http://schemas.openxmlformats.org/drawingml/2006/main">
              <a:ext uri="{FF2B5EF4-FFF2-40B4-BE49-F238E27FC236}">
                <a16:creationId xmlns:a16="http://schemas.microsoft.com/office/drawing/2014/main" id="{3FCCBFA9-179A-4D7B-9A32-A9E6ED24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190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1</a:t>
            </a:r>
          </a:p>
        </p:txBody>
      </p:sp>
      <p:sp>
        <p:nvSpPr>
          <p:cNvPr id="93" name="pin-GPIO2">
            <a:extLst xmlns:a="http://schemas.openxmlformats.org/drawingml/2006/main">
              <a:ext uri="{FF2B5EF4-FFF2-40B4-BE49-F238E27FC236}">
                <a16:creationId xmlns:a16="http://schemas.microsoft.com/office/drawing/2014/main" id="{4D7F081C-E1F7-4A57-B906-677FC98D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717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GPIO2</a:t>
            </a:r>
          </a:p>
        </p:txBody>
      </p:sp>
      <p:sp>
        <p:nvSpPr>
          <p:cNvPr id="94" name="button-2-left-terminal">
            <a:extLst xmlns:a="http://schemas.openxmlformats.org/drawingml/2006/main">
              <a:ext uri="{FF2B5EF4-FFF2-40B4-BE49-F238E27FC236}">
                <a16:creationId xmlns:a16="http://schemas.microsoft.com/office/drawing/2014/main" id="{66E4AAD2-4D47-48EF-9ED3-0A0FE855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5" name="button-2-right-terminal">
            <a:extLst xmlns:a="http://schemas.openxmlformats.org/drawingml/2006/main">
              <a:ext uri="{FF2B5EF4-FFF2-40B4-BE49-F238E27FC236}">
                <a16:creationId xmlns:a16="http://schemas.microsoft.com/office/drawing/2014/main" id="{53DD4EAA-90E9-4E3E-837A-BF702305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6" name="button-2-label">
            <a:extLst xmlns:a="http://schemas.openxmlformats.org/drawingml/2006/main">
              <a:ext uri="{FF2B5EF4-FFF2-40B4-BE49-F238E27FC236}">
                <a16:creationId xmlns:a16="http://schemas.microsoft.com/office/drawing/2014/main" id="{AA05AB96-9AC7-4005-8D8E-2728D4A8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0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2</a:t>
            </a:r>
          </a:p>
        </p:txBody>
      </p:sp>
      <p:sp>
        <p:nvSpPr>
          <p:cNvPr id="97" name="pin-GPIO15">
            <a:extLst xmlns:a="http://schemas.openxmlformats.org/drawingml/2006/main">
              <a:ext uri="{FF2B5EF4-FFF2-40B4-BE49-F238E27FC236}">
                <a16:creationId xmlns:a16="http://schemas.microsoft.com/office/drawing/2014/main" id="{3BDDCF0B-DE31-4F56-929C-526AD943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813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GPIO15</a:t>
            </a:r>
          </a:p>
        </p:txBody>
      </p:sp>
      <p:sp>
        <p:nvSpPr>
          <p:cNvPr id="98" name="button-3-left-terminal">
            <a:extLst xmlns:a="http://schemas.openxmlformats.org/drawingml/2006/main">
              <a:ext uri="{FF2B5EF4-FFF2-40B4-BE49-F238E27FC236}">
                <a16:creationId xmlns:a16="http://schemas.microsoft.com/office/drawing/2014/main" id="{F3FFEA53-9961-4A50-8F5D-158D8957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28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9" name="button-3-right-terminal">
            <a:extLst xmlns:a="http://schemas.openxmlformats.org/drawingml/2006/main">
              <a:ext uri="{FF2B5EF4-FFF2-40B4-BE49-F238E27FC236}">
                <a16:creationId xmlns:a16="http://schemas.microsoft.com/office/drawing/2014/main" id="{9FC4EDE7-57AD-439B-A68B-0C624A7A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28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0" name="button-3-label">
            <a:extLst xmlns:a="http://schemas.openxmlformats.org/drawingml/2006/main">
              <a:ext uri="{FF2B5EF4-FFF2-40B4-BE49-F238E27FC236}">
                <a16:creationId xmlns:a16="http://schemas.microsoft.com/office/drawing/2014/main" id="{6677ED2E-6150-4141-B4D5-9FE880AC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09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3</a:t>
            </a:r>
          </a:p>
        </p:txBody>
      </p:sp>
      <p:sp>
        <p:nvSpPr>
          <p:cNvPr id="101" name="pin-GPIO16">
            <a:extLst xmlns:a="http://schemas.openxmlformats.org/drawingml/2006/main">
              <a:ext uri="{FF2B5EF4-FFF2-40B4-BE49-F238E27FC236}">
                <a16:creationId xmlns:a16="http://schemas.microsoft.com/office/drawing/2014/main" id="{C5BA1CAE-1562-4A3A-8036-E603B5DB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GPIO16</a:t>
            </a:r>
          </a:p>
        </p:txBody>
      </p:sp>
      <p:sp>
        <p:nvSpPr>
          <p:cNvPr id="102" name="button-4-left-terminal">
            <a:extLst xmlns:a="http://schemas.openxmlformats.org/drawingml/2006/main">
              <a:ext uri="{FF2B5EF4-FFF2-40B4-BE49-F238E27FC236}">
                <a16:creationId xmlns:a16="http://schemas.microsoft.com/office/drawing/2014/main" id="{E7866CC7-97EA-40E2-936D-80B9F096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button-4-right-terminal">
            <a:extLst xmlns:a="http://schemas.openxmlformats.org/drawingml/2006/main">
              <a:ext uri="{FF2B5EF4-FFF2-40B4-BE49-F238E27FC236}">
                <a16:creationId xmlns:a16="http://schemas.microsoft.com/office/drawing/2014/main" id="{83595F13-69B6-434D-8CDD-59588209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4" name="button-4-label">
            <a:extLst xmlns:a="http://schemas.openxmlformats.org/drawingml/2006/main">
              <a:ext uri="{FF2B5EF4-FFF2-40B4-BE49-F238E27FC236}">
                <a16:creationId xmlns:a16="http://schemas.microsoft.com/office/drawing/2014/main" id="{E6C412B5-BC33-40B0-9080-B5ADEC1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195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4</a:t>
            </a:r>
          </a:p>
        </p:txBody>
      </p:sp>
      <p:sp>
        <p:nvSpPr>
          <p:cNvPr id="105" name="pin-GPIO18">
            <a:extLst xmlns:a="http://schemas.openxmlformats.org/drawingml/2006/main">
              <a:ext uri="{FF2B5EF4-FFF2-40B4-BE49-F238E27FC236}">
                <a16:creationId xmlns:a16="http://schemas.microsoft.com/office/drawing/2014/main" id="{176664DB-A0C7-4C94-8BE5-E3F1FB0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GPIO18</a:t>
            </a:r>
          </a:p>
        </p:txBody>
      </p:sp>
      <p:sp>
        <p:nvSpPr>
          <p:cNvPr id="106" name="button-5-left-terminal">
            <a:extLst xmlns:a="http://schemas.openxmlformats.org/drawingml/2006/main">
              <a:ext uri="{FF2B5EF4-FFF2-40B4-BE49-F238E27FC236}">
                <a16:creationId xmlns:a16="http://schemas.microsoft.com/office/drawing/2014/main" id="{E5AF1405-B6AC-4229-96B3-5687DF73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7" name="button-5-right-terminal">
            <a:extLst xmlns:a="http://schemas.openxmlformats.org/drawingml/2006/main">
              <a:ext uri="{FF2B5EF4-FFF2-40B4-BE49-F238E27FC236}">
                <a16:creationId xmlns:a16="http://schemas.microsoft.com/office/drawing/2014/main" id="{E79D17F2-29FB-4CE6-853D-AA9272E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8" name="button-5-label">
            <a:extLst xmlns:a="http://schemas.openxmlformats.org/drawingml/2006/main">
              <a:ext uri="{FF2B5EF4-FFF2-40B4-BE49-F238E27FC236}">
                <a16:creationId xmlns:a16="http://schemas.microsoft.com/office/drawing/2014/main" id="{2A200A29-1991-414B-ADA6-F9AAEDF7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29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5</a:t>
            </a:r>
          </a:p>
        </p:txBody>
      </p:sp>
      <p:sp>
        <p:nvSpPr>
          <p:cNvPr id="109" name="pin-GPIO38">
            <a:extLst xmlns:a="http://schemas.openxmlformats.org/drawingml/2006/main">
              <a:ext uri="{FF2B5EF4-FFF2-40B4-BE49-F238E27FC236}">
                <a16:creationId xmlns:a16="http://schemas.microsoft.com/office/drawing/2014/main" id="{C466B075-FDCA-4A30-9751-B7E0F8A1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101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GPIO38</a:t>
            </a:r>
          </a:p>
        </p:txBody>
      </p:sp>
      <p:sp>
        <p:nvSpPr>
          <p:cNvPr id="110" name="button-6-left-terminal">
            <a:extLst xmlns:a="http://schemas.openxmlformats.org/drawingml/2006/main">
              <a:ext uri="{FF2B5EF4-FFF2-40B4-BE49-F238E27FC236}">
                <a16:creationId xmlns:a16="http://schemas.microsoft.com/office/drawing/2014/main" id="{66CC1374-8CA6-4810-B592-828F3E48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57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1" name="button-6-right-terminal">
            <a:extLst xmlns:a="http://schemas.openxmlformats.org/drawingml/2006/main">
              <a:ext uri="{FF2B5EF4-FFF2-40B4-BE49-F238E27FC236}">
                <a16:creationId xmlns:a16="http://schemas.microsoft.com/office/drawing/2014/main" id="{299206AA-36BD-43A7-87CF-516DDEDC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57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2" name="button-6-label">
            <a:extLst xmlns:a="http://schemas.openxmlformats.org/drawingml/2006/main">
              <a:ext uri="{FF2B5EF4-FFF2-40B4-BE49-F238E27FC236}">
                <a16:creationId xmlns:a16="http://schemas.microsoft.com/office/drawing/2014/main" id="{0D78ACD1-0CA1-4D35-8D1F-0995D068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6</a:t>
            </a:r>
          </a:p>
        </p:txBody>
      </p:sp>
      <p:sp>
        <p:nvSpPr>
          <p:cNvPr id="113" name="pin-GPIO39">
            <a:extLst xmlns:a="http://schemas.openxmlformats.org/drawingml/2006/main">
              <a:ext uri="{FF2B5EF4-FFF2-40B4-BE49-F238E27FC236}">
                <a16:creationId xmlns:a16="http://schemas.microsoft.com/office/drawing/2014/main" id="{37AE2577-1E7E-463F-BBD9-CBE18C25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197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GPIO39</a:t>
            </a:r>
          </a:p>
        </p:txBody>
      </p:sp>
      <p:sp>
        <p:nvSpPr>
          <p:cNvPr id="114" name="button-7-left-terminal">
            <a:extLst xmlns:a="http://schemas.openxmlformats.org/drawingml/2006/main">
              <a:ext uri="{FF2B5EF4-FFF2-40B4-BE49-F238E27FC236}">
                <a16:creationId xmlns:a16="http://schemas.microsoft.com/office/drawing/2014/main" id="{831A2F51-37BF-4EBC-A0C8-4E6DA4E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67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5" name="button-7-right-terminal">
            <a:extLst xmlns:a="http://schemas.openxmlformats.org/drawingml/2006/main">
              <a:ext uri="{FF2B5EF4-FFF2-40B4-BE49-F238E27FC236}">
                <a16:creationId xmlns:a16="http://schemas.microsoft.com/office/drawing/2014/main" id="{6C01927C-CD82-44FC-AEE1-4FF16EB9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667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6" name="button-7-label">
            <a:extLst xmlns:a="http://schemas.openxmlformats.org/drawingml/2006/main">
              <a:ext uri="{FF2B5EF4-FFF2-40B4-BE49-F238E27FC236}">
                <a16:creationId xmlns:a16="http://schemas.microsoft.com/office/drawing/2014/main" id="{CC6E1B78-6110-4728-91A2-B133CD0C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7</a:t>
            </a:r>
          </a:p>
        </p:txBody>
      </p:sp>
      <p:sp>
        <p:nvSpPr>
          <p:cNvPr id="117" name="pin-GPIO40">
            <a:extLst xmlns:a="http://schemas.openxmlformats.org/drawingml/2006/main">
              <a:ext uri="{FF2B5EF4-FFF2-40B4-BE49-F238E27FC236}">
                <a16:creationId xmlns:a16="http://schemas.microsoft.com/office/drawing/2014/main" id="{479E49DE-AE6F-4DDC-AD17-8F4C9F59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2293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GPIO40</a:t>
            </a:r>
          </a:p>
        </p:txBody>
      </p:sp>
      <p:sp>
        <p:nvSpPr>
          <p:cNvPr id="118" name="button-8-left-terminal">
            <a:extLst xmlns:a="http://schemas.openxmlformats.org/drawingml/2006/main">
              <a:ext uri="{FF2B5EF4-FFF2-40B4-BE49-F238E27FC236}">
                <a16:creationId xmlns:a16="http://schemas.microsoft.com/office/drawing/2014/main" id="{1E08CD9B-C584-4C9E-8252-C4E1D59E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7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9" name="button-8-right-terminal">
            <a:extLst xmlns:a="http://schemas.openxmlformats.org/drawingml/2006/main">
              <a:ext uri="{FF2B5EF4-FFF2-40B4-BE49-F238E27FC236}">
                <a16:creationId xmlns:a16="http://schemas.microsoft.com/office/drawing/2014/main" id="{0F0B0AF5-A406-4083-A6F2-E6ABE14F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76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0" name="button-8-label">
            <a:extLst xmlns:a="http://schemas.openxmlformats.org/drawingml/2006/main">
              <a:ext uri="{FF2B5EF4-FFF2-40B4-BE49-F238E27FC236}">
                <a16:creationId xmlns:a16="http://schemas.microsoft.com/office/drawing/2014/main" id="{EB3B34D6-8CF1-4A41-AB33-0B826685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Button 8</a:t>
            </a:r>
          </a:p>
        </p:txBody>
      </p:sp>
      <p:sp>
        <p:nvSpPr>
          <p:cNvPr id="121" name="pin-GND">
            <a:extLst xmlns:a="http://schemas.openxmlformats.org/drawingml/2006/main">
              <a:ext uri="{FF2B5EF4-FFF2-40B4-BE49-F238E27FC236}">
                <a16:creationId xmlns:a16="http://schemas.microsoft.com/office/drawing/2014/main" id="{2C74AA12-8EA8-4A7D-9063-E1ACF1A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5722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4A4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GND</a:t>
            </a:r>
          </a:p>
        </p:txBody>
      </p:sp>
      <p:sp>
        <p:nvSpPr>
          <p:cNvPr id="122" name="wiring-note">
            <a:extLst xmlns:a="http://schemas.openxmlformats.org/drawingml/2006/main">
              <a:ext uri="{FF2B5EF4-FFF2-40B4-BE49-F238E27FC236}">
                <a16:creationId xmlns:a16="http://schemas.microsoft.com/office/drawing/2014/main" id="{B0D62810-0835-4F9B-BD18-BFB98993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8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CBC8C5"/>
                </a:solidFill>
              </a:defRPr>
            </a:pPr>
            <a:r>
              <a:rPr sz="1650">
                <a:solidFill>
                  <a:srgbClr val="CBC8C5"/>
                </a:solidFill>
              </a:rPr>
              <a:t>One button = one 2-core cable (twisted pair): GPIO signal + GND return</a:t>
            </a:r>
          </a:p>
        </p:txBody>
      </p:sp>
      <p:sp>
        <p:nvSpPr>
          <p:cNvPr id="123" name="contact-note">
            <a:extLst xmlns:a="http://schemas.openxmlformats.org/drawingml/2006/main">
              <a:ext uri="{FF2B5EF4-FFF2-40B4-BE49-F238E27FC236}">
                <a16:creationId xmlns:a16="http://schemas.microsoft.com/office/drawing/2014/main" id="{02B2C748-778E-4E27-91B5-2ADB3AEA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3533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CBC8C5"/>
                </a:solidFill>
              </a:defRPr>
            </a:pPr>
            <a:r>
              <a:rPr sz="1275">
                <a:solidFill>
                  <a:srgbClr val="CBC8C5"/>
                </a:solidFill>
              </a:rPr>
              <a:t>Normally open: closing the button connects its GPIO to GND</a:t>
            </a:r>
          </a:p>
        </p:txBody>
      </p:sp>
    </p:spTree>
    <p:extLst>
      <p:ext uri="{BB962C8B-B14F-4D97-AF65-F5344CB8AC3E}">
        <p14:creationId xmlns:p14="http://schemas.microsoft.com/office/powerpoint/2010/main" val="620543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F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-2">
            <a:extLst xmlns:a="http://schemas.openxmlformats.org/drawingml/2006/main">
              <a:ext uri="{FF2B5EF4-FFF2-40B4-BE49-F238E27FC236}">
                <a16:creationId xmlns:a16="http://schemas.microsoft.com/office/drawing/2014/main" id="{18A56A48-BD09-490A-9C35-9A8A7786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A8AF733B-52D8-4E65-A41B-A251BFC5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2">
            <a:extLst xmlns:a="http://schemas.openxmlformats.org/drawingml/2006/main">
              <a:ext uri="{FF2B5EF4-FFF2-40B4-BE49-F238E27FC236}">
                <a16:creationId xmlns:a16="http://schemas.microsoft.com/office/drawing/2014/main" id="{33C67DD9-7EE9-44AB-A706-542DD89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15A2C"/>
                </a:solidFill>
              </a:defRPr>
            </a:pPr>
            <a:r>
              <a:rPr sz="1275" b="1">
                <a:solidFill>
                  <a:srgbClr val="F15A2C"/>
                </a:solidFill>
              </a:rPr>
              <a:t>ADVATEK LABS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D7F8E5A1-B278-46C3-9563-A6B4B876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Add protection for a fixed indoor button cable</a:t>
            </a:r>
          </a:p>
        </p:txBody>
      </p:sp>
      <p:sp>
        <p:nvSpPr>
          <p:cNvPr id="5" name="subtitle-2">
            <a:extLst xmlns:a="http://schemas.openxmlformats.org/drawingml/2006/main">
              <a:ext uri="{FF2B5EF4-FFF2-40B4-BE49-F238E27FC236}">
                <a16:creationId xmlns:a16="http://schemas.microsoft.com/office/drawing/2014/main" id="{61AC3084-03AF-4F53-83D9-F7F6961E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CBC8C5"/>
                </a:solidFill>
              </a:defRPr>
            </a:pPr>
            <a:r>
              <a:rPr sz="1275" b="0">
                <a:solidFill>
                  <a:srgbClr val="CBC8C5"/>
                </a:solidFill>
              </a:rPr>
              <a:t>ONE CHANNEL · REPEAT AS NEEDED</a:t>
            </a:r>
          </a:p>
        </p:txBody>
      </p:sp>
      <p:sp>
        <p:nvSpPr>
          <p:cNvPr id="6" name="waveshare-board">
            <a:extLst xmlns:a="http://schemas.openxmlformats.org/drawingml/2006/main">
              <a:ext uri="{FF2B5EF4-FFF2-40B4-BE49-F238E27FC236}">
                <a16:creationId xmlns:a16="http://schemas.microsoft.com/office/drawing/2014/main" id="{CC7D0243-014D-470B-98EA-E386174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143250" cy="4762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28575">
            <a:solidFill>
              <a:srgbClr val="78736F"/>
            </a:solidFill>
            <a:prstDash val="solid"/>
          </a:ln>
        </p:spPr>
      </p:sp>
      <p:sp>
        <p:nvSpPr>
          <p:cNvPr id="7" name="board-orange-edge">
            <a:extLst xmlns:a="http://schemas.openxmlformats.org/drawingml/2006/main">
              <a:ext uri="{FF2B5EF4-FFF2-40B4-BE49-F238E27FC236}">
                <a16:creationId xmlns:a16="http://schemas.microsoft.com/office/drawing/2014/main" id="{600A8CCB-8CA1-4CDF-AD22-B888FBDE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9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oe-module">
            <a:extLst xmlns:a="http://schemas.openxmlformats.org/drawingml/2006/main">
              <a:ext uri="{FF2B5EF4-FFF2-40B4-BE49-F238E27FC236}">
                <a16:creationId xmlns:a16="http://schemas.microsoft.com/office/drawing/2014/main" id="{039468D6-5242-41CC-8BC9-2BB7BDE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2114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7873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PoE module</a:t>
            </a:r>
          </a:p>
        </p:txBody>
      </p:sp>
      <p:sp>
        <p:nvSpPr>
          <p:cNvPr id="9" name="board-name">
            <a:extLst xmlns:a="http://schemas.openxmlformats.org/drawingml/2006/main">
              <a:ext uri="{FF2B5EF4-FFF2-40B4-BE49-F238E27FC236}">
                <a16:creationId xmlns:a16="http://schemas.microsoft.com/office/drawing/2014/main" id="{C7D2CF20-46FB-4A99-9871-2E6F093B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2228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Waveshare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ESP32-S3-ETH</a:t>
            </a:r>
          </a:p>
        </p:txBody>
      </p:sp>
      <p:sp>
        <p:nvSpPr>
          <p:cNvPr id="10" name="board-detail">
            <a:extLst xmlns:a="http://schemas.openxmlformats.org/drawingml/2006/main">
              <a:ext uri="{FF2B5EF4-FFF2-40B4-BE49-F238E27FC236}">
                <a16:creationId xmlns:a16="http://schemas.microsoft.com/office/drawing/2014/main" id="{EE23023B-9813-4F0B-90D8-EAD6A43F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BC8C5"/>
                </a:solidFill>
              </a:defRPr>
            </a:pPr>
            <a:r>
              <a:rPr sz="1350" b="0">
                <a:solidFill>
                  <a:srgbClr val="CBC8C5"/>
                </a:solidFill>
              </a:rPr>
              <a:t>W5500 Ethernet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CBC8C5"/>
                </a:solidFill>
              </a:defRPr>
            </a:pPr>
            <a:r>
              <a:rPr sz="1350" b="0">
                <a:solidFill>
                  <a:srgbClr val="CBC8C5"/>
                </a:solidFill>
              </a:rPr>
              <a:t>16 MB flash · 8 MB PSRAM</a:t>
            </a:r>
          </a:p>
        </p:txBody>
      </p:sp>
      <p:sp>
        <p:nvSpPr>
          <p:cNvPr id="11" name="usb-port">
            <a:extLst xmlns:a="http://schemas.openxmlformats.org/drawingml/2006/main">
              <a:ext uri="{FF2B5EF4-FFF2-40B4-BE49-F238E27FC236}">
                <a16:creationId xmlns:a16="http://schemas.microsoft.com/office/drawing/2014/main" id="{EFDC88AD-274E-4BFB-A2C5-E16C79EC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2455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9A9A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pin-3V3">
            <a:extLst xmlns:a="http://schemas.openxmlformats.org/drawingml/2006/main">
              <a:ext uri="{FF2B5EF4-FFF2-40B4-BE49-F238E27FC236}">
                <a16:creationId xmlns:a16="http://schemas.microsoft.com/office/drawing/2014/main" id="{958C0720-C84F-42EF-8479-21F5C9A5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289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3V3</a:t>
            </a:r>
          </a:p>
        </p:txBody>
      </p:sp>
      <p:sp>
        <p:nvSpPr>
          <p:cNvPr id="13" name="pin-GPIO16">
            <a:extLst xmlns:a="http://schemas.openxmlformats.org/drawingml/2006/main">
              <a:ext uri="{FF2B5EF4-FFF2-40B4-BE49-F238E27FC236}">
                <a16:creationId xmlns:a16="http://schemas.microsoft.com/office/drawing/2014/main" id="{6D4B254E-EE92-47FD-95DC-E38E2EA3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9570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GPIO16</a:t>
            </a:r>
          </a:p>
        </p:txBody>
      </p:sp>
      <p:sp>
        <p:nvSpPr>
          <p:cNvPr id="14" name="pin-GND">
            <a:extLst xmlns:a="http://schemas.openxmlformats.org/drawingml/2006/main">
              <a:ext uri="{FF2B5EF4-FFF2-40B4-BE49-F238E27FC236}">
                <a16:creationId xmlns:a16="http://schemas.microsoft.com/office/drawing/2014/main" id="{0F7D91C1-EE32-40BF-BC1E-782408E7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624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A4A4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GND</a:t>
            </a:r>
          </a:p>
        </p:txBody>
      </p:sp>
      <p:sp>
        <p:nvSpPr>
          <p:cNvPr id="15" name="gpio-node-wire-a">
            <a:extLst xmlns:a="http://schemas.openxmlformats.org/drawingml/2006/main">
              <a:ext uri="{FF2B5EF4-FFF2-40B4-BE49-F238E27FC236}">
                <a16:creationId xmlns:a16="http://schemas.microsoft.com/office/drawing/2014/main" id="{2513D2B4-DBC5-4EB8-9458-02771A0A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3867150"/>
            <a:ext cx="2190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6" name="gpio-node-wire-b">
            <a:extLst xmlns:a="http://schemas.openxmlformats.org/drawingml/2006/main">
              <a:ext uri="{FF2B5EF4-FFF2-40B4-BE49-F238E27FC236}">
                <a16:creationId xmlns:a16="http://schemas.microsoft.com/office/drawing/2014/main" id="{B83F6466-4A97-4F42-BD6E-14B11D9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386715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7" name="gpio-node-wire-c">
            <a:extLst xmlns:a="http://schemas.openxmlformats.org/drawingml/2006/main">
              <a:ext uri="{FF2B5EF4-FFF2-40B4-BE49-F238E27FC236}">
                <a16:creationId xmlns:a16="http://schemas.microsoft.com/office/drawing/2014/main" id="{9FDD8177-B8ED-4892-AE16-9A898E8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3867150"/>
            <a:ext cx="95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8" name="series-left-wire">
            <a:extLst xmlns:a="http://schemas.openxmlformats.org/drawingml/2006/main">
              <a:ext uri="{FF2B5EF4-FFF2-40B4-BE49-F238E27FC236}">
                <a16:creationId xmlns:a16="http://schemas.microsoft.com/office/drawing/2014/main" id="{24BDEBD4-580C-426B-95A8-B7AAA2D2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38671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9" name="series-right-wire">
            <a:extLst xmlns:a="http://schemas.openxmlformats.org/drawingml/2006/main">
              <a:ext uri="{FF2B5EF4-FFF2-40B4-BE49-F238E27FC236}">
                <a16:creationId xmlns:a16="http://schemas.microsoft.com/office/drawing/2014/main" id="{970F2EF4-377B-4EFC-A88C-BF6E7398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05875" y="3867150"/>
            <a:ext cx="1000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20" name="terminal-button-signal">
            <a:extLst xmlns:a="http://schemas.openxmlformats.org/drawingml/2006/main">
              <a:ext uri="{FF2B5EF4-FFF2-40B4-BE49-F238E27FC236}">
                <a16:creationId xmlns:a16="http://schemas.microsoft.com/office/drawing/2014/main" id="{549A76C5-85D1-4063-AD97-A828E581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44250" y="386715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21" name="button-return">
            <a:extLst xmlns:a="http://schemas.openxmlformats.org/drawingml/2006/main">
              <a:ext uri="{FF2B5EF4-FFF2-40B4-BE49-F238E27FC236}">
                <a16:creationId xmlns:a16="http://schemas.microsoft.com/office/drawing/2014/main" id="{454EAB68-4D1C-4A20-95A0-2918FA1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01650" y="3867150"/>
            <a:ext cx="9525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22" name="return-bus">
            <a:extLst xmlns:a="http://schemas.openxmlformats.org/drawingml/2006/main">
              <a:ext uri="{FF2B5EF4-FFF2-40B4-BE49-F238E27FC236}">
                <a16:creationId xmlns:a16="http://schemas.microsoft.com/office/drawing/2014/main" id="{7C2C7BF7-1E6A-4659-9AC3-ABA3310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267200" y="7124700"/>
            <a:ext cx="8934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23" name="ground-pin-short">
            <a:extLst xmlns:a="http://schemas.openxmlformats.org/drawingml/2006/main">
              <a:ext uri="{FF2B5EF4-FFF2-40B4-BE49-F238E27FC236}">
                <a16:creationId xmlns:a16="http://schemas.microsoft.com/office/drawing/2014/main" id="{9922C9C0-86C1-4BD0-8449-239D5108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4533900"/>
            <a:ext cx="247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24" name="ground-pin-down">
            <a:extLst xmlns:a="http://schemas.openxmlformats.org/drawingml/2006/main">
              <a:ext uri="{FF2B5EF4-FFF2-40B4-BE49-F238E27FC236}">
                <a16:creationId xmlns:a16="http://schemas.microsoft.com/office/drawing/2014/main" id="{5AF993E0-08A1-4A5A-A2E9-ED01DD3E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4533900"/>
            <a:ext cx="9525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25" name="pullup-from-3v3-a">
            <a:extLst xmlns:a="http://schemas.openxmlformats.org/drawingml/2006/main">
              <a:ext uri="{FF2B5EF4-FFF2-40B4-BE49-F238E27FC236}">
                <a16:creationId xmlns:a16="http://schemas.microsoft.com/office/drawing/2014/main" id="{3FF488DE-6817-4FED-86AF-E601186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3200400"/>
            <a:ext cx="247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26" name="pullup-from-3v3-b">
            <a:extLst xmlns:a="http://schemas.openxmlformats.org/drawingml/2006/main">
              <a:ext uri="{FF2B5EF4-FFF2-40B4-BE49-F238E27FC236}">
                <a16:creationId xmlns:a16="http://schemas.microsoft.com/office/drawing/2014/main" id="{9EC394CB-B4B9-4918-B774-F720A7F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67200" y="2867025"/>
            <a:ext cx="95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27" name="pullup-from-3v3-c">
            <a:extLst xmlns:a="http://schemas.openxmlformats.org/drawingml/2006/main">
              <a:ext uri="{FF2B5EF4-FFF2-40B4-BE49-F238E27FC236}">
                <a16:creationId xmlns:a16="http://schemas.microsoft.com/office/drawing/2014/main" id="{B7527248-725C-4DDF-8808-E8326BE8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7200" y="2867025"/>
            <a:ext cx="1619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28" name="pullup-to-node">
            <a:extLst xmlns:a="http://schemas.openxmlformats.org/drawingml/2006/main">
              <a:ext uri="{FF2B5EF4-FFF2-40B4-BE49-F238E27FC236}">
                <a16:creationId xmlns:a16="http://schemas.microsoft.com/office/drawing/2014/main" id="{6E1ED458-495B-4C9E-BEE4-32A4FEB4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3143250"/>
            <a:ext cx="952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29" name="filter-wire">
            <a:extLst xmlns:a="http://schemas.openxmlformats.org/drawingml/2006/main">
              <a:ext uri="{FF2B5EF4-FFF2-40B4-BE49-F238E27FC236}">
                <a16:creationId xmlns:a16="http://schemas.microsoft.com/office/drawing/2014/main" id="{3607CB02-D9D1-4A64-9F23-12C2118C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3867150"/>
            <a:ext cx="9525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30" name="filter-to-ground">
            <a:extLst xmlns:a="http://schemas.openxmlformats.org/drawingml/2006/main">
              <a:ext uri="{FF2B5EF4-FFF2-40B4-BE49-F238E27FC236}">
                <a16:creationId xmlns:a16="http://schemas.microsoft.com/office/drawing/2014/main" id="{1E4AF0C8-E96D-4ABF-93B3-49F2CA95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91125" y="5619750"/>
            <a:ext cx="9525" cy="150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C8C5"/>
            </a:solidFill>
            <a:prstDash val="solid"/>
          </a:ln>
        </p:spPr>
      </p:sp>
      <p:sp>
        <p:nvSpPr>
          <p:cNvPr id="31" name="protected-node">
            <a:extLst xmlns:a="http://schemas.openxmlformats.org/drawingml/2006/main">
              <a:ext uri="{FF2B5EF4-FFF2-40B4-BE49-F238E27FC236}">
                <a16:creationId xmlns:a16="http://schemas.microsoft.com/office/drawing/2014/main" id="{9ABB6459-ECAA-4261-8511-531A75E7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62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pullup">
            <a:extLst xmlns:a="http://schemas.openxmlformats.org/drawingml/2006/main">
              <a:ext uri="{FF2B5EF4-FFF2-40B4-BE49-F238E27FC236}">
                <a16:creationId xmlns:a16="http://schemas.microsoft.com/office/drawing/2014/main" id="{3BE4DBA8-732E-4CCD-9488-88394F61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7873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10 kΩ pull-up</a:t>
            </a:r>
          </a:p>
        </p:txBody>
      </p:sp>
      <p:sp>
        <p:nvSpPr>
          <p:cNvPr id="33" name="series-resistor">
            <a:extLst xmlns:a="http://schemas.openxmlformats.org/drawingml/2006/main">
              <a:ext uri="{FF2B5EF4-FFF2-40B4-BE49-F238E27FC236}">
                <a16:creationId xmlns:a16="http://schemas.microsoft.com/office/drawing/2014/main" id="{B510EC33-0D11-4856-AB6A-E34F3DA8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29000"/>
            <a:ext cx="171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7873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 kΩ series</a:t>
            </a:r>
          </a:p>
        </p:txBody>
      </p:sp>
      <p:sp>
        <p:nvSpPr>
          <p:cNvPr id="34" name="field-terminal">
            <a:extLst xmlns:a="http://schemas.openxmlformats.org/drawingml/2006/main">
              <a:ext uri="{FF2B5EF4-FFF2-40B4-BE49-F238E27FC236}">
                <a16:creationId xmlns:a16="http://schemas.microsoft.com/office/drawing/2014/main" id="{07828942-CA2C-4860-B5D0-F0FE91F8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152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332722"/>
          </a:solidFill>
          <a:ln xmlns:a="http://schemas.openxmlformats.org/drawingml/2006/main" w="19050">
            <a:solidFill>
              <a:srgbClr val="F15A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FIELD TERMINAL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+ SA5.0CA TVS</a:t>
            </a:r>
          </a:p>
        </p:txBody>
      </p:sp>
      <p:sp>
        <p:nvSpPr>
          <p:cNvPr id="35" name="filter-cap">
            <a:extLst xmlns:a="http://schemas.openxmlformats.org/drawingml/2006/main">
              <a:ext uri="{FF2B5EF4-FFF2-40B4-BE49-F238E27FC236}">
                <a16:creationId xmlns:a16="http://schemas.microsoft.com/office/drawing/2014/main" id="{2FF95862-8F63-4338-A5AF-251AA936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13906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7873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100 nF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 GND</a:t>
            </a:r>
          </a:p>
        </p:txBody>
      </p:sp>
      <p:sp>
        <p:nvSpPr>
          <p:cNvPr id="36" name="clamp-diodes">
            <a:extLst xmlns:a="http://schemas.openxmlformats.org/drawingml/2006/main">
              <a:ext uri="{FF2B5EF4-FFF2-40B4-BE49-F238E27FC236}">
                <a16:creationId xmlns:a16="http://schemas.microsoft.com/office/drawing/2014/main" id="{21805D10-87D9-47BC-B874-554E3601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7873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1N5817 clamps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3V3 + GND</a:t>
            </a:r>
          </a:p>
        </p:txBody>
      </p:sp>
      <p:sp>
        <p:nvSpPr>
          <p:cNvPr id="37" name="button-1-left-terminal">
            <a:extLst xmlns:a="http://schemas.openxmlformats.org/drawingml/2006/main">
              <a:ext uri="{FF2B5EF4-FFF2-40B4-BE49-F238E27FC236}">
                <a16:creationId xmlns:a16="http://schemas.microsoft.com/office/drawing/2014/main" id="{82EB1ACD-8528-436E-8313-F2D06DAB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button-1-right-terminal">
            <a:extLst xmlns:a="http://schemas.openxmlformats.org/drawingml/2006/main">
              <a:ext uri="{FF2B5EF4-FFF2-40B4-BE49-F238E27FC236}">
                <a16:creationId xmlns:a16="http://schemas.microsoft.com/office/drawing/2014/main" id="{8C508425-71F7-42DE-896B-354F16B7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5925" y="3781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button-1-blade">
            <a:extLst xmlns:a="http://schemas.openxmlformats.org/drawingml/2006/main">
              <a:ext uri="{FF2B5EF4-FFF2-40B4-BE49-F238E27FC236}">
                <a16:creationId xmlns:a16="http://schemas.microsoft.com/office/drawing/2014/main" id="{D273AE16-2AC4-484D-B294-41462478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87225" y="3562350"/>
            <a:ext cx="9810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15A2C"/>
            </a:solidFill>
            <a:prstDash val="solid"/>
          </a:ln>
        </p:spPr>
      </p:sp>
      <p:sp>
        <p:nvSpPr>
          <p:cNvPr id="40" name="button-1-label">
            <a:extLst xmlns:a="http://schemas.openxmlformats.org/drawingml/2006/main">
              <a:ext uri="{FF2B5EF4-FFF2-40B4-BE49-F238E27FC236}">
                <a16:creationId xmlns:a16="http://schemas.microsoft.com/office/drawing/2014/main" id="{5B9E47A6-5584-4912-B135-0228B2B6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133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Dry-contact button</a:t>
            </a:r>
          </a:p>
        </p:txBody>
      </p:sp>
      <p:sp>
        <p:nvSpPr>
          <p:cNvPr id="41" name="twisted-pair">
            <a:extLst xmlns:a="http://schemas.openxmlformats.org/drawingml/2006/main">
              <a:ext uri="{FF2B5EF4-FFF2-40B4-BE49-F238E27FC236}">
                <a16:creationId xmlns:a16="http://schemas.microsoft.com/office/drawing/2014/main" id="{C107E052-E558-41E1-AFEA-1CC66094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908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5A2C"/>
                </a:solidFill>
              </a:defRPr>
            </a:pPr>
            <a:r>
              <a:rPr sz="1275" b="1">
                <a:solidFill>
                  <a:srgbClr val="F15A2C"/>
                </a:solidFill>
              </a:rPr>
              <a:t>ONE TWISTED PAIR</a:t>
            </a:r>
          </a:p>
        </p:txBody>
      </p:sp>
      <p:sp>
        <p:nvSpPr>
          <p:cNvPr id="42" name="network-explainer">
            <a:extLst xmlns:a="http://schemas.openxmlformats.org/drawingml/2006/main">
              <a:ext uri="{FF2B5EF4-FFF2-40B4-BE49-F238E27FC236}">
                <a16:creationId xmlns:a16="http://schemas.microsoft.com/office/drawing/2014/main" id="{C99CDE4D-C2F7-4311-8A90-EFE4CC30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53125"/>
            <a:ext cx="628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C8C5"/>
                </a:solidFill>
              </a:defRPr>
            </a:pPr>
            <a:r>
              <a:rPr sz="1500" b="0">
                <a:solidFill>
                  <a:srgbClr val="CBC8C5"/>
                </a:solidFill>
              </a:rPr>
              <a:t>The 10 kΩ resistor defines the open state. The 1 kΩ resistor limits fault current. The capacitor filters brief spikes; firmware still handles mechanical debounce.</a:t>
            </a:r>
          </a:p>
        </p:txBody>
      </p:sp>
      <p:sp>
        <p:nvSpPr>
          <p:cNvPr id="43" name="footer-callout">
            <a:extLst xmlns:a="http://schemas.openxmlformats.org/drawingml/2006/main">
              <a:ext uri="{FF2B5EF4-FFF2-40B4-BE49-F238E27FC236}">
                <a16:creationId xmlns:a16="http://schemas.microsoft.com/office/drawing/2014/main" id="{275529F0-58CB-4460-AF70-6D3FD0FE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91450"/>
            <a:ext cx="14135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3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53436"/>
                </a:solidFill>
              </a:defRPr>
            </a:pPr>
            <a:r>
              <a:rPr sz="1350" b="1">
                <a:solidFill>
                  <a:srgbClr val="353436"/>
                </a:solidFill>
              </a:rPr>
              <a:t>Suitable for a fixed indoor prop · This circuit still shares ESP32 ground</a:t>
            </a:r>
          </a:p>
        </p:txBody>
      </p:sp>
    </p:spTree>
    <p:extLst>
      <p:ext uri="{BB962C8B-B14F-4D97-AF65-F5344CB8AC3E}">
        <p14:creationId xmlns:p14="http://schemas.microsoft.com/office/powerpoint/2010/main" val="20262311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F1F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header-3">
            <a:extLst xmlns:a="http://schemas.openxmlformats.org/drawingml/2006/main">
              <a:ext uri="{FF2B5EF4-FFF2-40B4-BE49-F238E27FC236}">
                <a16:creationId xmlns:a16="http://schemas.microsoft.com/office/drawing/2014/main" id="{F1527882-6A1D-4289-B3ED-3FAD000F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3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1739564C-983C-4C69-8627-8821171E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5240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brand-3">
            <a:extLst xmlns:a="http://schemas.openxmlformats.org/drawingml/2006/main">
              <a:ext uri="{FF2B5EF4-FFF2-40B4-BE49-F238E27FC236}">
                <a16:creationId xmlns:a16="http://schemas.microsoft.com/office/drawing/2014/main" id="{022CB6D7-538A-4051-A77D-6A55A8AE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15A2C"/>
                </a:solidFill>
              </a:defRPr>
            </a:pPr>
            <a:r>
              <a:rPr sz="1275" b="1">
                <a:solidFill>
                  <a:srgbClr val="F15A2C"/>
                </a:solidFill>
              </a:rPr>
              <a:t>ADVATEK LABS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E50E1ABD-7941-4837-B6A8-54B09935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Group isolation is the recommended event setup</a:t>
            </a:r>
          </a:p>
        </p:txBody>
      </p:sp>
      <p:sp>
        <p:nvSpPr>
          <p:cNvPr id="5" name="subtitle-3">
            <a:extLst xmlns:a="http://schemas.openxmlformats.org/drawingml/2006/main">
              <a:ext uri="{FF2B5EF4-FFF2-40B4-BE49-F238E27FC236}">
                <a16:creationId xmlns:a16="http://schemas.microsoft.com/office/drawing/2014/main" id="{800310BF-E266-48CE-A0ED-83EF8BDB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0">
                <a:solidFill>
                  <a:srgbClr val="CBC8C5"/>
                </a:solidFill>
              </a:defRPr>
            </a:pPr>
            <a:r>
              <a:rPr sz="1275" b="0">
                <a:solidFill>
                  <a:srgbClr val="CBC8C5"/>
                </a:solidFill>
              </a:rPr>
              <a:t>POE-POWERED · UP TO EIGHT BUTTONS</a:t>
            </a:r>
          </a:p>
        </p:txBody>
      </p:sp>
      <p:sp>
        <p:nvSpPr>
          <p:cNvPr id="6" name="esp-zone">
            <a:extLst xmlns:a="http://schemas.openxmlformats.org/drawingml/2006/main">
              <a:ext uri="{FF2B5EF4-FFF2-40B4-BE49-F238E27FC236}">
                <a16:creationId xmlns:a16="http://schemas.microsoft.com/office/drawing/2014/main" id="{B3E4D897-246E-4B4C-A21C-BB124E4D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4900"/>
            <a:ext cx="7715250" cy="668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ield-zone">
            <a:extLst xmlns:a="http://schemas.openxmlformats.org/drawingml/2006/main">
              <a:ext uri="{FF2B5EF4-FFF2-40B4-BE49-F238E27FC236}">
                <a16:creationId xmlns:a16="http://schemas.microsoft.com/office/drawing/2014/main" id="{12379851-EF75-47B6-B604-977A6C14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104900"/>
            <a:ext cx="7524750" cy="668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2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solation-boundary">
            <a:extLst xmlns:a="http://schemas.openxmlformats.org/drawingml/2006/main">
              <a:ext uri="{FF2B5EF4-FFF2-40B4-BE49-F238E27FC236}">
                <a16:creationId xmlns:a16="http://schemas.microsoft.com/office/drawing/2014/main" id="{DBC05A5E-D785-4A70-888F-7873E2B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1409700"/>
            <a:ext cx="9525" cy="607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dash"/>
          </a:ln>
        </p:spPr>
      </p:sp>
      <p:sp>
        <p:nvSpPr>
          <p:cNvPr id="9" name="esp-zone-label">
            <a:extLst xmlns:a="http://schemas.openxmlformats.org/drawingml/2006/main">
              <a:ext uri="{FF2B5EF4-FFF2-40B4-BE49-F238E27FC236}">
                <a16:creationId xmlns:a16="http://schemas.microsoft.com/office/drawing/2014/main" id="{1183777C-AF77-4AC4-915E-5605EC83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BC8C5"/>
                </a:solidFill>
              </a:defRPr>
            </a:pPr>
            <a:r>
              <a:rPr sz="1350" b="1">
                <a:solidFill>
                  <a:srgbClr val="CBC8C5"/>
                </a:solidFill>
              </a:rPr>
              <a:t>WAVESHARE / POE SIDE</a:t>
            </a:r>
          </a:p>
        </p:txBody>
      </p:sp>
      <p:sp>
        <p:nvSpPr>
          <p:cNvPr id="10" name="field-zone-label">
            <a:extLst xmlns:a="http://schemas.openxmlformats.org/drawingml/2006/main">
              <a:ext uri="{FF2B5EF4-FFF2-40B4-BE49-F238E27FC236}">
                <a16:creationId xmlns:a16="http://schemas.microsoft.com/office/drawing/2014/main" id="{56BDDA09-9FB7-491C-898D-D7A54CC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525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15A2C"/>
                </a:solidFill>
              </a:defRPr>
            </a:pPr>
            <a:r>
              <a:rPr sz="1350" b="1">
                <a:solidFill>
                  <a:srgbClr val="F15A2C"/>
                </a:solidFill>
              </a:rPr>
              <a:t>ISOLATED FIELD-BUTTON SIDE</a:t>
            </a:r>
          </a:p>
        </p:txBody>
      </p:sp>
      <p:sp>
        <p:nvSpPr>
          <p:cNvPr id="11" name="poe-to-board">
            <a:extLst xmlns:a="http://schemas.openxmlformats.org/drawingml/2006/main">
              <a:ext uri="{FF2B5EF4-FFF2-40B4-BE49-F238E27FC236}">
                <a16:creationId xmlns:a16="http://schemas.microsoft.com/office/drawing/2014/main" id="{0F1F7080-EDBB-45AE-AD53-0D1F4ECB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2590800"/>
            <a:ext cx="57150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B7DBD"/>
            </a:solidFill>
            <a:prstDash val="solid"/>
          </a:ln>
        </p:spPr>
      </p:sp>
      <p:sp>
        <p:nvSpPr>
          <p:cNvPr id="12" name="board-to-converter">
            <a:extLst xmlns:a="http://schemas.openxmlformats.org/drawingml/2006/main">
              <a:ext uri="{FF2B5EF4-FFF2-40B4-BE49-F238E27FC236}">
                <a16:creationId xmlns:a16="http://schemas.microsoft.com/office/drawing/2014/main" id="{C8E25513-DBF1-4F48-89E8-1851AD6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24500" y="2724150"/>
            <a:ext cx="95250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13" name="converter-to-inputs">
            <a:extLst xmlns:a="http://schemas.openxmlformats.org/drawingml/2006/main">
              <a:ext uri="{FF2B5EF4-FFF2-40B4-BE49-F238E27FC236}">
                <a16:creationId xmlns:a16="http://schemas.microsoft.com/office/drawing/2014/main" id="{57A1DD99-616B-4BFA-9CCB-455762AA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48750" y="2724150"/>
            <a:ext cx="47625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4" name="buttons-to-inputs-1">
            <a:extLst xmlns:a="http://schemas.openxmlformats.org/drawingml/2006/main">
              <a:ext uri="{FF2B5EF4-FFF2-40B4-BE49-F238E27FC236}">
                <a16:creationId xmlns:a16="http://schemas.microsoft.com/office/drawing/2014/main" id="{85BA569E-8385-4E64-840A-75B45D5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906250" y="3124200"/>
            <a:ext cx="76200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5" name="buttons-to-inputs-2">
            <a:extLst xmlns:a="http://schemas.openxmlformats.org/drawingml/2006/main">
              <a:ext uri="{FF2B5EF4-FFF2-40B4-BE49-F238E27FC236}">
                <a16:creationId xmlns:a16="http://schemas.microsoft.com/office/drawing/2014/main" id="{63F3CEF2-869E-4795-BC87-B7647A3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06250" y="4095750"/>
            <a:ext cx="762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6" name="buttons-to-inputs-3">
            <a:extLst xmlns:a="http://schemas.openxmlformats.org/drawingml/2006/main">
              <a:ext uri="{FF2B5EF4-FFF2-40B4-BE49-F238E27FC236}">
                <a16:creationId xmlns:a16="http://schemas.microsoft.com/office/drawing/2014/main" id="{FCA07085-56C7-49D5-85DE-0956390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06250" y="4476750"/>
            <a:ext cx="7620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5A2C"/>
            </a:solidFill>
            <a:prstDash val="solid"/>
          </a:ln>
        </p:spPr>
      </p:sp>
      <p:sp>
        <p:nvSpPr>
          <p:cNvPr id="17" name="button-return-1">
            <a:extLst xmlns:a="http://schemas.openxmlformats.org/drawingml/2006/main">
              <a:ext uri="{FF2B5EF4-FFF2-40B4-BE49-F238E27FC236}">
                <a16:creationId xmlns:a16="http://schemas.microsoft.com/office/drawing/2014/main" id="{AE1E09B9-120C-4E4A-90B5-6BE5824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68400" y="312420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18" name="button-return-2">
            <a:extLst xmlns:a="http://schemas.openxmlformats.org/drawingml/2006/main">
              <a:ext uri="{FF2B5EF4-FFF2-40B4-BE49-F238E27FC236}">
                <a16:creationId xmlns:a16="http://schemas.microsoft.com/office/drawing/2014/main" id="{4EEE496A-85DA-430D-8F8B-C8584BDA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68400" y="411480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19" name="button-return-3">
            <a:extLst xmlns:a="http://schemas.openxmlformats.org/drawingml/2006/main">
              <a:ext uri="{FF2B5EF4-FFF2-40B4-BE49-F238E27FC236}">
                <a16:creationId xmlns:a16="http://schemas.microsoft.com/office/drawing/2014/main" id="{B6997989-6633-43B3-9DAF-8678FB73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68400" y="510540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C8C5"/>
            </a:solidFill>
            <a:prstDash val="solid"/>
          </a:ln>
        </p:spPr>
      </p:sp>
      <p:sp>
        <p:nvSpPr>
          <p:cNvPr id="20" name="iso-com-bus">
            <a:extLst xmlns:a="http://schemas.openxmlformats.org/drawingml/2006/main">
              <a:ext uri="{FF2B5EF4-FFF2-40B4-BE49-F238E27FC236}">
                <a16:creationId xmlns:a16="http://schemas.microsoft.com/office/drawing/2014/main" id="{43E1BC4F-CAC8-4D88-BC1B-393D3D8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3124200"/>
            <a:ext cx="9525" cy="278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C8C5"/>
            </a:solidFill>
            <a:prstDash val="solid"/>
          </a:ln>
        </p:spPr>
      </p:sp>
      <p:sp>
        <p:nvSpPr>
          <p:cNvPr id="21" name="iso-com-return-a">
            <a:extLst xmlns:a="http://schemas.openxmlformats.org/drawingml/2006/main">
              <a:ext uri="{FF2B5EF4-FFF2-40B4-BE49-F238E27FC236}">
                <a16:creationId xmlns:a16="http://schemas.microsoft.com/office/drawing/2014/main" id="{2155E2EB-7E0E-4EC2-B290-2DD78CC3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2096750" y="590550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C8C5"/>
            </a:solidFill>
            <a:prstDash val="solid"/>
          </a:ln>
        </p:spPr>
      </p:sp>
      <p:sp>
        <p:nvSpPr>
          <p:cNvPr id="22" name="iso-com-return-b">
            <a:extLst xmlns:a="http://schemas.openxmlformats.org/drawingml/2006/main">
              <a:ext uri="{FF2B5EF4-FFF2-40B4-BE49-F238E27FC236}">
                <a16:creationId xmlns:a16="http://schemas.microsoft.com/office/drawing/2014/main" id="{BD7444BC-D726-4B6A-9402-41BA6177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096750" y="5048250"/>
            <a:ext cx="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C8C5"/>
            </a:solidFill>
            <a:prstDash val="solid"/>
          </a:ln>
        </p:spPr>
      </p:sp>
      <p:sp>
        <p:nvSpPr>
          <p:cNvPr id="23" name="iso-com-return-c">
            <a:extLst xmlns:a="http://schemas.openxmlformats.org/drawingml/2006/main">
              <a:ext uri="{FF2B5EF4-FFF2-40B4-BE49-F238E27FC236}">
                <a16:creationId xmlns:a16="http://schemas.microsoft.com/office/drawing/2014/main" id="{41B683C9-B25D-4D12-BCCF-7E47E55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906250" y="5048250"/>
            <a:ext cx="19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C8C5"/>
            </a:solidFill>
            <a:prstDash val="solid"/>
          </a:ln>
        </p:spPr>
      </p:sp>
      <p:sp>
        <p:nvSpPr>
          <p:cNvPr id="24" name="outputs-to-gpio">
            <a:extLst xmlns:a="http://schemas.openxmlformats.org/drawingml/2006/main">
              <a:ext uri="{FF2B5EF4-FFF2-40B4-BE49-F238E27FC236}">
                <a16:creationId xmlns:a16="http://schemas.microsoft.com/office/drawing/2014/main" id="{B9C7124F-4DA1-4F90-ABF9-B72D304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524500" y="5219700"/>
            <a:ext cx="4000500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4A832"/>
            </a:solidFill>
            <a:prstDash val="solid"/>
          </a:ln>
        </p:spPr>
      </p:sp>
      <p:sp>
        <p:nvSpPr>
          <p:cNvPr id="25" name="poe-network">
            <a:extLst xmlns:a="http://schemas.openxmlformats.org/drawingml/2006/main">
              <a:ext uri="{FF2B5EF4-FFF2-40B4-BE49-F238E27FC236}">
                <a16:creationId xmlns:a16="http://schemas.microsoft.com/office/drawing/2014/main" id="{53D6A9E2-B804-4A72-B8C9-5193586B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16954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B7DB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PoE network</a:t>
            </a:r>
          </a:p>
        </p:txBody>
      </p:sp>
      <p:sp>
        <p:nvSpPr>
          <p:cNvPr id="26" name="waveshare-board">
            <a:extLst xmlns:a="http://schemas.openxmlformats.org/drawingml/2006/main">
              <a:ext uri="{FF2B5EF4-FFF2-40B4-BE49-F238E27FC236}">
                <a16:creationId xmlns:a16="http://schemas.microsoft.com/office/drawing/2014/main" id="{EA81E2DC-7050-40A0-8120-D03D1FE0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3143250" cy="4095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28575">
            <a:solidFill>
              <a:srgbClr val="78736F"/>
            </a:solidFill>
            <a:prstDash val="solid"/>
          </a:ln>
        </p:spPr>
      </p:sp>
      <p:sp>
        <p:nvSpPr>
          <p:cNvPr id="27" name="board-orange-edge">
            <a:extLst xmlns:a="http://schemas.openxmlformats.org/drawingml/2006/main">
              <a:ext uri="{FF2B5EF4-FFF2-40B4-BE49-F238E27FC236}">
                <a16:creationId xmlns:a16="http://schemas.microsoft.com/office/drawing/2014/main" id="{99B308F4-9B64-429B-A6F9-24506EBE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oe-module">
            <a:extLst xmlns:a="http://schemas.openxmlformats.org/drawingml/2006/main">
              <a:ext uri="{FF2B5EF4-FFF2-40B4-BE49-F238E27FC236}">
                <a16:creationId xmlns:a16="http://schemas.microsoft.com/office/drawing/2014/main" id="{72871706-C603-41C6-B2C8-8BC5E8B2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2114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7873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PoE module</a:t>
            </a:r>
          </a:p>
        </p:txBody>
      </p:sp>
      <p:sp>
        <p:nvSpPr>
          <p:cNvPr id="29" name="board-name">
            <a:extLst xmlns:a="http://schemas.openxmlformats.org/drawingml/2006/main">
              <a:ext uri="{FF2B5EF4-FFF2-40B4-BE49-F238E27FC236}">
                <a16:creationId xmlns:a16="http://schemas.microsoft.com/office/drawing/2014/main" id="{C009E9C4-D180-4DC7-8F5A-7C6A4B57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86200"/>
            <a:ext cx="2228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Waveshare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ESP32-S3-ETH</a:t>
            </a:r>
          </a:p>
        </p:txBody>
      </p:sp>
      <p:sp>
        <p:nvSpPr>
          <p:cNvPr id="30" name="board-detail">
            <a:extLst xmlns:a="http://schemas.openxmlformats.org/drawingml/2006/main">
              <a:ext uri="{FF2B5EF4-FFF2-40B4-BE49-F238E27FC236}">
                <a16:creationId xmlns:a16="http://schemas.microsoft.com/office/drawing/2014/main" id="{1FB66CA2-4E34-4FFB-9527-289AF0BB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3870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CBC8C5"/>
                </a:solidFill>
              </a:defRPr>
            </a:pPr>
            <a:r>
              <a:rPr sz="1350" b="0">
                <a:solidFill>
                  <a:srgbClr val="CBC8C5"/>
                </a:solidFill>
              </a:rPr>
              <a:t>W5500 Ethernet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CBC8C5"/>
                </a:solidFill>
              </a:defRPr>
            </a:pPr>
            <a:r>
              <a:rPr sz="1350" b="0">
                <a:solidFill>
                  <a:srgbClr val="CBC8C5"/>
                </a:solidFill>
              </a:rPr>
              <a:t>16 MB flash · 8 MB PSRAM</a:t>
            </a:r>
          </a:p>
        </p:txBody>
      </p:sp>
      <p:sp>
        <p:nvSpPr>
          <p:cNvPr id="31" name="usb-port">
            <a:extLst xmlns:a="http://schemas.openxmlformats.org/drawingml/2006/main">
              <a:ext uri="{FF2B5EF4-FFF2-40B4-BE49-F238E27FC236}">
                <a16:creationId xmlns:a16="http://schemas.microsoft.com/office/drawing/2014/main" id="{C53CF5F0-32CA-4660-B158-15946712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638800"/>
            <a:ext cx="133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9A9A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pin-5V / GND">
            <a:extLst xmlns:a="http://schemas.openxmlformats.org/drawingml/2006/main">
              <a:ext uri="{FF2B5EF4-FFF2-40B4-BE49-F238E27FC236}">
                <a16:creationId xmlns:a16="http://schemas.microsoft.com/office/drawing/2014/main" id="{4C9421DE-2228-4D43-B6F9-10A1A051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099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5V / GND</a:t>
            </a:r>
          </a:p>
        </p:txBody>
      </p:sp>
      <p:sp>
        <p:nvSpPr>
          <p:cNvPr id="33" name="pin-3V3">
            <a:extLst xmlns:a="http://schemas.openxmlformats.org/drawingml/2006/main">
              <a:ext uri="{FF2B5EF4-FFF2-40B4-BE49-F238E27FC236}">
                <a16:creationId xmlns:a16="http://schemas.microsoft.com/office/drawing/2014/main" id="{3AD96791-F431-4A1B-A19B-63F8723D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449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3V3</a:t>
            </a:r>
          </a:p>
        </p:txBody>
      </p:sp>
      <p:sp>
        <p:nvSpPr>
          <p:cNvPr id="34" name="pin-GPIOs">
            <a:extLst xmlns:a="http://schemas.openxmlformats.org/drawingml/2006/main">
              <a:ext uri="{FF2B5EF4-FFF2-40B4-BE49-F238E27FC236}">
                <a16:creationId xmlns:a16="http://schemas.microsoft.com/office/drawing/2014/main" id="{7166D984-4C10-4A6B-9390-1A3EAF41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79950"/>
            <a:ext cx="1219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GPIOs</a:t>
            </a:r>
          </a:p>
        </p:txBody>
      </p:sp>
      <p:sp>
        <p:nvSpPr>
          <p:cNvPr id="35" name="converter">
            <a:extLst xmlns:a="http://schemas.openxmlformats.org/drawingml/2006/main">
              <a:ext uri="{FF2B5EF4-FFF2-40B4-BE49-F238E27FC236}">
                <a16:creationId xmlns:a16="http://schemas.microsoft.com/office/drawing/2014/main" id="{E2DB02E8-EE9F-42E0-84B7-4F4DF4BE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F15A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B0505S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isolated 5V → 5V</a:t>
            </a:r>
          </a:p>
        </p:txBody>
      </p:sp>
      <p:sp>
        <p:nvSpPr>
          <p:cNvPr id="36" name="opto-board">
            <a:extLst xmlns:a="http://schemas.openxmlformats.org/drawingml/2006/main">
              <a:ext uri="{FF2B5EF4-FFF2-40B4-BE49-F238E27FC236}">
                <a16:creationId xmlns:a16="http://schemas.microsoft.com/office/drawing/2014/main" id="{AB1C2B42-1F81-4F2A-9262-31FB9E25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323234"/>
          </a:solidFill>
          <a:ln xmlns:a="http://schemas.openxmlformats.org/drawingml/2006/main" w="19050">
            <a:solidFill>
              <a:srgbClr val="F15A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8-channel PC817 board</a:t>
            </a:r>
          </a:p>
        </p:txBody>
      </p:sp>
      <p:sp>
        <p:nvSpPr>
          <p:cNvPr id="37" name="opto-divider">
            <a:extLst xmlns:a="http://schemas.openxmlformats.org/drawingml/2006/main">
              <a:ext uri="{FF2B5EF4-FFF2-40B4-BE49-F238E27FC236}">
                <a16:creationId xmlns:a16="http://schemas.microsoft.com/office/drawing/2014/main" id="{1A9C810D-C356-4FB6-B682-4F78B2C2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752850"/>
            <a:ext cx="381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opto-output-label">
            <a:extLst xmlns:a="http://schemas.openxmlformats.org/drawingml/2006/main">
              <a:ext uri="{FF2B5EF4-FFF2-40B4-BE49-F238E27FC236}">
                <a16:creationId xmlns:a16="http://schemas.microsoft.com/office/drawing/2014/main" id="{BFA9D82E-E9C7-47EC-AF55-0A1B1D8C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00500"/>
            <a:ext cx="914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4A832"/>
                </a:solidFill>
              </a:defRPr>
            </a:pPr>
            <a:r>
              <a:rPr sz="1275" b="1">
                <a:solidFill>
                  <a:srgbClr val="64A832"/>
                </a:solidFill>
              </a:rPr>
              <a:t>3.3 V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64A832"/>
                </a:solidFill>
              </a:defRPr>
            </a:pPr>
            <a:r>
              <a:rPr sz="1275" b="1">
                <a:solidFill>
                  <a:srgbClr val="64A832"/>
                </a:solidFill>
              </a:rPr>
              <a:t>outputs</a:t>
            </a:r>
          </a:p>
        </p:txBody>
      </p:sp>
      <p:sp>
        <p:nvSpPr>
          <p:cNvPr id="39" name="opto-input-label">
            <a:extLst xmlns:a="http://schemas.openxmlformats.org/drawingml/2006/main">
              <a:ext uri="{FF2B5EF4-FFF2-40B4-BE49-F238E27FC236}">
                <a16:creationId xmlns:a16="http://schemas.microsoft.com/office/drawing/2014/main" id="{F0535B61-E170-40F0-A316-DA528DB3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005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15A2C"/>
                </a:solidFill>
              </a:defRPr>
            </a:pPr>
            <a:r>
              <a:rPr sz="1275" b="1">
                <a:solidFill>
                  <a:srgbClr val="F15A2C"/>
                </a:solidFill>
              </a:rPr>
              <a:t>isolated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15A2C"/>
                </a:solidFill>
              </a:defRPr>
            </a:pPr>
            <a:r>
              <a:rPr sz="1275" b="1">
                <a:solidFill>
                  <a:srgbClr val="F15A2C"/>
                </a:solidFill>
              </a:rPr>
              <a:t>inputs</a:t>
            </a:r>
          </a:p>
        </p:txBody>
      </p:sp>
      <p:sp>
        <p:nvSpPr>
          <p:cNvPr id="40" name="button-1-left-terminal">
            <a:extLst xmlns:a="http://schemas.openxmlformats.org/drawingml/2006/main">
              <a:ext uri="{FF2B5EF4-FFF2-40B4-BE49-F238E27FC236}">
                <a16:creationId xmlns:a16="http://schemas.microsoft.com/office/drawing/2014/main" id="{7E5B4F32-B411-41CC-A21F-702A2B1A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button-1-right-terminal">
            <a:extLst xmlns:a="http://schemas.openxmlformats.org/drawingml/2006/main">
              <a:ext uri="{FF2B5EF4-FFF2-40B4-BE49-F238E27FC236}">
                <a16:creationId xmlns:a16="http://schemas.microsoft.com/office/drawing/2014/main" id="{35005985-4ACA-4367-8AC3-B33B60B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3038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button-1-blade">
            <a:extLst xmlns:a="http://schemas.openxmlformats.org/drawingml/2006/main">
              <a:ext uri="{FF2B5EF4-FFF2-40B4-BE49-F238E27FC236}">
                <a16:creationId xmlns:a16="http://schemas.microsoft.com/office/drawing/2014/main" id="{96870F66-3A3D-4E89-BFD5-0CAB2777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753975" y="2819400"/>
            <a:ext cx="9810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15A2C"/>
            </a:solidFill>
            <a:prstDash val="solid"/>
          </a:ln>
        </p:spPr>
      </p:sp>
      <p:sp>
        <p:nvSpPr>
          <p:cNvPr id="43" name="button-1-label">
            <a:extLst xmlns:a="http://schemas.openxmlformats.org/drawingml/2006/main">
              <a:ext uri="{FF2B5EF4-FFF2-40B4-BE49-F238E27FC236}">
                <a16:creationId xmlns:a16="http://schemas.microsoft.com/office/drawing/2014/main" id="{8092FFC8-9D97-4DA6-8B50-CE064D2C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Button 1</a:t>
            </a:r>
          </a:p>
        </p:txBody>
      </p:sp>
      <p:sp>
        <p:nvSpPr>
          <p:cNvPr id="44" name="button-2-left-terminal">
            <a:extLst xmlns:a="http://schemas.openxmlformats.org/drawingml/2006/main">
              <a:ext uri="{FF2B5EF4-FFF2-40B4-BE49-F238E27FC236}">
                <a16:creationId xmlns:a16="http://schemas.microsoft.com/office/drawing/2014/main" id="{67C2F99B-AF60-4D81-A00D-9B60FA85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4029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5" name="button-2-right-terminal">
            <a:extLst xmlns:a="http://schemas.openxmlformats.org/drawingml/2006/main">
              <a:ext uri="{FF2B5EF4-FFF2-40B4-BE49-F238E27FC236}">
                <a16:creationId xmlns:a16="http://schemas.microsoft.com/office/drawing/2014/main" id="{D30A9B5E-FA57-4286-8340-A3C28C0A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4029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button-2-blade">
            <a:extLst xmlns:a="http://schemas.openxmlformats.org/drawingml/2006/main">
              <a:ext uri="{FF2B5EF4-FFF2-40B4-BE49-F238E27FC236}">
                <a16:creationId xmlns:a16="http://schemas.microsoft.com/office/drawing/2014/main" id="{F91B286D-AA78-4C30-AD2F-599A894A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753975" y="3810000"/>
            <a:ext cx="9810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15A2C"/>
            </a:solidFill>
            <a:prstDash val="solid"/>
          </a:ln>
        </p:spPr>
      </p:sp>
      <p:sp>
        <p:nvSpPr>
          <p:cNvPr id="47" name="button-2-label">
            <a:extLst xmlns:a="http://schemas.openxmlformats.org/drawingml/2006/main">
              <a:ext uri="{FF2B5EF4-FFF2-40B4-BE49-F238E27FC236}">
                <a16:creationId xmlns:a16="http://schemas.microsoft.com/office/drawing/2014/main" id="{7638AD5F-49DD-4C08-94C2-8922E255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3815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Button 2</a:t>
            </a:r>
          </a:p>
        </p:txBody>
      </p:sp>
      <p:sp>
        <p:nvSpPr>
          <p:cNvPr id="48" name="button-3-left-terminal">
            <a:extLst xmlns:a="http://schemas.openxmlformats.org/drawingml/2006/main">
              <a:ext uri="{FF2B5EF4-FFF2-40B4-BE49-F238E27FC236}">
                <a16:creationId xmlns:a16="http://schemas.microsoft.com/office/drawing/2014/main" id="{16E7ED08-65C1-4BFE-AD38-6A8D81E5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5019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9" name="button-3-right-terminal">
            <a:extLst xmlns:a="http://schemas.openxmlformats.org/drawingml/2006/main">
              <a:ext uri="{FF2B5EF4-FFF2-40B4-BE49-F238E27FC236}">
                <a16:creationId xmlns:a16="http://schemas.microsoft.com/office/drawing/2014/main" id="{DC43E4B5-73E0-4DE3-8484-478DE13F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5019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1F2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button-3-blade">
            <a:extLst xmlns:a="http://schemas.openxmlformats.org/drawingml/2006/main">
              <a:ext uri="{FF2B5EF4-FFF2-40B4-BE49-F238E27FC236}">
                <a16:creationId xmlns:a16="http://schemas.microsoft.com/office/drawing/2014/main" id="{4BD0F216-CCCD-42B6-B14A-B05CF1D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753975" y="4800600"/>
            <a:ext cx="9810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15A2C"/>
            </a:solidFill>
            <a:prstDash val="solid"/>
          </a:ln>
        </p:spPr>
      </p:sp>
      <p:sp>
        <p:nvSpPr>
          <p:cNvPr id="51" name="button-3-label">
            <a:extLst xmlns:a="http://schemas.openxmlformats.org/drawingml/2006/main">
              <a:ext uri="{FF2B5EF4-FFF2-40B4-BE49-F238E27FC236}">
                <a16:creationId xmlns:a16="http://schemas.microsoft.com/office/drawing/2014/main" id="{AE51E199-9BB6-4C39-84B7-183B4839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3721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Button 3</a:t>
            </a:r>
          </a:p>
        </p:txBody>
      </p:sp>
      <p:sp>
        <p:nvSpPr>
          <p:cNvPr id="52" name="more-buttons">
            <a:extLst xmlns:a="http://schemas.openxmlformats.org/drawingml/2006/main">
              <a:ext uri="{FF2B5EF4-FFF2-40B4-BE49-F238E27FC236}">
                <a16:creationId xmlns:a16="http://schemas.microsoft.com/office/drawing/2014/main" id="{8375F7E7-54F0-4A46-9A01-799CFC23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096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BC8C5"/>
                </a:solidFill>
              </a:defRPr>
            </a:pPr>
            <a:r>
              <a:rPr sz="1500" b="1">
                <a:solidFill>
                  <a:srgbClr val="CBC8C5"/>
                </a:solidFill>
              </a:rPr>
              <a:t>+ repeat to Button 8</a:t>
            </a:r>
          </a:p>
        </p:txBody>
      </p:sp>
      <p:sp>
        <p:nvSpPr>
          <p:cNvPr id="53" name="pair-note">
            <a:extLst xmlns:a="http://schemas.openxmlformats.org/drawingml/2006/main">
              <a:ext uri="{FF2B5EF4-FFF2-40B4-BE49-F238E27FC236}">
                <a16:creationId xmlns:a16="http://schemas.microsoft.com/office/drawing/2014/main" id="{C6BB5934-3D2C-4B9B-BE6A-2825EC89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92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twisted pair per button</a:t>
            </a:r>
          </a:p>
        </p:txBody>
      </p:sp>
      <p:sp>
        <p:nvSpPr>
          <p:cNvPr id="54" name="iso-com-label">
            <a:extLst xmlns:a="http://schemas.openxmlformats.org/drawingml/2006/main">
              <a:ext uri="{FF2B5EF4-FFF2-40B4-BE49-F238E27FC236}">
                <a16:creationId xmlns:a16="http://schemas.microsoft.com/office/drawing/2014/main" id="{C8A4CE08-703D-46FE-AC43-65B6D72F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19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BC8C5"/>
                </a:solidFill>
              </a:defRPr>
            </a:pPr>
            <a:r>
              <a:rPr sz="1275" b="1">
                <a:solidFill>
                  <a:srgbClr val="CBC8C5"/>
                </a:solidFill>
              </a:rPr>
              <a:t>ISO COM return</a:t>
            </a:r>
          </a:p>
        </p:txBody>
      </p:sp>
      <p:sp>
        <p:nvSpPr>
          <p:cNvPr id="55" name="iso-com-warning">
            <a:extLst xmlns:a="http://schemas.openxmlformats.org/drawingml/2006/main">
              <a:ext uri="{FF2B5EF4-FFF2-40B4-BE49-F238E27FC236}">
                <a16:creationId xmlns:a16="http://schemas.microsoft.com/office/drawing/2014/main" id="{684AC030-2144-4302-AAFA-63C38707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724650"/>
            <a:ext cx="552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5A2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1F20"/>
                </a:solidFill>
              </a:defRPr>
            </a:pPr>
            <a:r>
              <a:rPr sz="1650" b="1">
                <a:solidFill>
                  <a:srgbClr val="1F1F20"/>
                </a:solidFill>
              </a:rPr>
              <a:t>ISO COM must never join Waveshare GND</a:t>
            </a:r>
          </a:p>
        </p:txBody>
      </p:sp>
      <p:sp>
        <p:nvSpPr>
          <p:cNvPr id="56" name="footer-callout">
            <a:extLst xmlns:a="http://schemas.openxmlformats.org/drawingml/2006/main">
              <a:ext uri="{FF2B5EF4-FFF2-40B4-BE49-F238E27FC236}">
                <a16:creationId xmlns:a16="http://schemas.microsoft.com/office/drawing/2014/main" id="{D3F4545F-7C65-4B26-AA34-8CB5E058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91450"/>
            <a:ext cx="14135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7E3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53436"/>
                </a:solidFill>
              </a:defRPr>
            </a:pPr>
            <a:r>
              <a:rPr sz="1350" b="1">
                <a:solidFill>
                  <a:srgbClr val="353436"/>
                </a:solidFill>
              </a:rPr>
              <a:t>Power and meter-test every channel over USB before connecting PoE</a:t>
            </a:r>
          </a:p>
        </p:txBody>
      </p:sp>
    </p:spTree>
    <p:extLst>
      <p:ext uri="{BB962C8B-B14F-4D97-AF65-F5344CB8AC3E}">
        <p14:creationId xmlns:p14="http://schemas.microsoft.com/office/powerpoint/2010/main" val="23542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2026-07-26T09:10:50.0590000Z</dcterms:created>
  <dcterms:modified xsi:type="dcterms:W3CDTF">2026-07-26T09:10:50.0590000Z</dcterms:modified>
</coreProperties>
</file>